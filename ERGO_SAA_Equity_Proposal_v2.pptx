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0058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0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[SAA] Equity Allocation  |  Strategic Rationale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55280" y="73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ERGO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0" y="3474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 Munich Re company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64592" y="694944"/>
            <a:ext cx="2011680" cy="21945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6949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FOR DECISION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4910328"/>
            <a:ext cx="5486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ERGO Thailand  |  Investment Committee · SAA Equity Proposal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00400" y="4910328"/>
            <a:ext cx="2743200" cy="233172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Strictly confidential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778240" y="4910328"/>
            <a:ext cx="274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0" y="658368"/>
            <a:ext cx="3291840" cy="4251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8229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Now?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01168" y="1399032"/>
            <a:ext cx="310896" cy="3108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5216" y="1399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Low Return Outlook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" y="16093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BBBBBB"/>
                </a:solidFill>
              </a:rPr>
              <a:t>Thai bonds yield 1.3% — below inflation expectations and internal return targets.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01168" y="2194560"/>
            <a:ext cx="310896" cy="3108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194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5216" y="21945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Not All-Weather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5216" y="2404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BBBBBB"/>
                </a:solidFill>
              </a:rPr>
              <a:t>95% fixed income concentration creates single-factor risk with no upside capture in growth cycles.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1168" y="2990088"/>
            <a:ext cx="310896" cy="3108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5216" y="2990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Sub-Optimal Sharpe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BBBBBB"/>
                </a:solidFill>
              </a:rPr>
              <a:t>Current Sharpe = 0.147 — one of the lowest achievable on the efficient frontier given our constraints.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1168" y="3785616"/>
            <a:ext cx="310896" cy="31089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5216" y="37856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 Buffer Available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" y="3995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BBBBBB"/>
                </a:solidFill>
              </a:rPr>
              <a:t>CAR 211.4% provides meaningful buffer above OIC min 140%, creating room to accept additional risk.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74720" y="74980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4A4A"/>
                </a:solidFill>
              </a:rPr>
              <a:t>Current Portfolio at a Glance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0" y="1042416"/>
            <a:ext cx="2606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4720" y="1042416"/>
            <a:ext cx="54864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84448" y="108813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Current Sharpe Ratio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84448" y="1243584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</a:rPr>
              <a:t>0.147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584448" y="1627632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</a:rPr>
              <a:t>Investable 95.2% portfolio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263640" y="1042416"/>
            <a:ext cx="2606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63640" y="1042416"/>
            <a:ext cx="54864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73368" y="1088136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Expected Return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73368" y="1243584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A4A"/>
                </a:solidFill>
              </a:rPr>
              <a:t>1.39%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373368" y="1627632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</a:rPr>
              <a:t>Annual, CME Feb 2026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474720" y="1938528"/>
            <a:ext cx="2606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474720" y="1938528"/>
            <a:ext cx="54864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84448" y="198424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Portfolio SD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584448" y="2139696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A4A"/>
                </a:solidFill>
              </a:rPr>
              <a:t>0.94%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3584448" y="2523744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</a:rPr>
              <a:t>Annualized, correlated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263640" y="1938528"/>
            <a:ext cx="2606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63640" y="1938528"/>
            <a:ext cx="54864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73368" y="198424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CAR Base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373368" y="2139696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7E34"/>
                </a:solidFill>
              </a:rPr>
              <a:t>211.4%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6373368" y="2523744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</a:rPr>
              <a:t>OIC min = 140%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474720" y="2834640"/>
            <a:ext cx="2606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474720" y="2834640"/>
            <a:ext cx="54864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84448" y="2880360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Solvency Efficiency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584448" y="3035808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A4A"/>
                </a:solidFill>
              </a:rPr>
              <a:t>0.303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3584448" y="3419856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</a:rPr>
              <a:t>Return ÷ Avg RBC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263640" y="2834640"/>
            <a:ext cx="26060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263640" y="2834640"/>
            <a:ext cx="54864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73368" y="2880360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Fixed Income Weight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373368" y="3035808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</a:rPr>
              <a:t>90.2%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6373368" y="3419856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</a:rPr>
              <a:t>Gov + Corp + GloFI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474720" y="3749040"/>
            <a:ext cx="5394960" cy="804672"/>
          </a:xfrm>
          <a:prstGeom prst="rect">
            <a:avLst/>
          </a:prstGeom>
          <a:solidFill>
            <a:srgbClr val="FFF8F0"/>
          </a:solidFill>
          <a:ln w="6350">
            <a:solidFill>
              <a:srgbClr val="FFCCA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84448" y="3785616"/>
            <a:ext cx="5193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5100"/>
                </a:solidFill>
              </a:rPr>
              <a:t>Key insight: </a:t>
            </a:r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</a:rPr>
              <a:t>Adding 3-5% Global Equity improves Sharpe from 0.147 → 0.30+ with CAR Stressed remaining above 185% across all proposed scenarios. </a:t>
            </a:r>
            <a:pPr algn="l" indent="0" marL="0">
              <a:buNone/>
            </a:pPr>
            <a:r>
              <a:rPr lang="en-US" sz="900" i="1" dirty="0">
                <a:solidFill>
                  <a:srgbClr val="9E9E9E"/>
                </a:solidFill>
              </a:rPr>
              <a:t>Non-listed equity 4.8% excluded from all optimization (bolt-on).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0058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0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</a:rPr>
              <a:t>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[SAA] Equity Allocation  |  Scenario Comparison — Full Metrics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55280" y="73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ERGO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0" y="3474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 Munich Re company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64592" y="694944"/>
            <a:ext cx="2011680" cy="219456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6949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FOR DECISION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4910328"/>
            <a:ext cx="5486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ERGO Thailand  |  Investment Committee · SAA Equity Proposal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00400" y="4910328"/>
            <a:ext cx="2743200" cy="233172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Strictly confidential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778240" y="4910328"/>
            <a:ext cx="274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4592" y="749808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E9E9E"/>
                </a:solidFill>
              </a:rPr>
              <a:t>Investable 95.2% | Non-Listed 4.8% bolt-on (Return=Risk=RBC=0) | CME: GSAM/KKP Feb 2026 | AUM THB 8,000mn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4592" y="950976"/>
            <a:ext cx="2066544" cy="29260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95097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Metric / Asset Class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49424" y="950976"/>
            <a:ext cx="1316736" cy="292608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9424" y="95097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Current SAA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84448" y="950976"/>
            <a:ext cx="1316736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4448" y="95097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Port 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19472" y="950976"/>
            <a:ext cx="1316736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95097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Port 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254496" y="950976"/>
            <a:ext cx="1316736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95097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Port 3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589520" y="950976"/>
            <a:ext cx="1316736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95097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Port 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4592" y="1243584"/>
            <a:ext cx="8814816" cy="201168"/>
          </a:xfrm>
          <a:prstGeom prst="rect">
            <a:avLst/>
          </a:prstGeom>
          <a:solidFill>
            <a:srgbClr val="E8EAF6"/>
          </a:solidFill>
          <a:ln w="3810">
            <a:solidFill>
              <a:srgbClr val="C5CA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744" y="1243584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237E"/>
                </a:solidFill>
              </a:rPr>
              <a:t>ALLOCATION  (% of total AUM)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64592" y="1463040"/>
            <a:ext cx="2066544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" y="1463040"/>
            <a:ext cx="199339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Cash &amp; MMF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49424" y="1463040"/>
            <a:ext cx="1316736" cy="206654"/>
          </a:xfrm>
          <a:prstGeom prst="rect">
            <a:avLst/>
          </a:prstGeom>
          <a:solidFill>
            <a:srgbClr val="FA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9424" y="1463040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5.9%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584448" y="1463040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84448" y="1463040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5.2%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19472" y="1463040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1463040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5.2%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54496" y="1463040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1463040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5.9%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589520" y="1463040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1463040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5.9%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64592" y="1669694"/>
            <a:ext cx="2066544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7744" y="1669694"/>
            <a:ext cx="199339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Gov Bonds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249424" y="1669694"/>
            <a:ext cx="1316736" cy="206654"/>
          </a:xfrm>
          <a:prstGeom prst="rect">
            <a:avLst/>
          </a:prstGeom>
          <a:solidFill>
            <a:srgbClr val="FA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49424" y="1669694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55.4%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584448" y="1669694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84448" y="1669694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42.8%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919472" y="1669694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1669694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42.8%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54496" y="1669694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54496" y="1669694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53.0%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589520" y="1669694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89520" y="1669694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49.3%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64592" y="1876349"/>
            <a:ext cx="2066544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7744" y="1876349"/>
            <a:ext cx="199339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Corp Bonds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249424" y="1876349"/>
            <a:ext cx="1316736" cy="206654"/>
          </a:xfrm>
          <a:prstGeom prst="rect">
            <a:avLst/>
          </a:prstGeom>
          <a:solidFill>
            <a:srgbClr val="FA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49424" y="1876349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30.0%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84448" y="1876349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84448" y="1876349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39.4%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919472" y="1876349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9472" y="1876349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34.6%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254496" y="1876349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54496" y="1876349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30.0%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589520" y="1876349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89520" y="1876349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33.0%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64592" y="2083003"/>
            <a:ext cx="2066544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37744" y="2083003"/>
            <a:ext cx="199339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Global FI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249424" y="2083003"/>
            <a:ext cx="1316736" cy="206654"/>
          </a:xfrm>
          <a:prstGeom prst="rect">
            <a:avLst/>
          </a:prstGeom>
          <a:solidFill>
            <a:srgbClr val="FA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49424" y="2083003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0.0%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584448" y="2083003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584448" y="2083003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0.0%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919472" y="2083003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19472" y="2083003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4.8%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254496" y="2083003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54496" y="2083003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0.0%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589520" y="2083003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89520" y="2083003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0.0%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64592" y="2289658"/>
            <a:ext cx="2066544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37744" y="2289658"/>
            <a:ext cx="199339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Local REIT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249424" y="2289658"/>
            <a:ext cx="1316736" cy="206654"/>
          </a:xfrm>
          <a:prstGeom prst="rect">
            <a:avLst/>
          </a:prstGeom>
          <a:solidFill>
            <a:srgbClr val="FA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249424" y="2289658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2.3%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584448" y="2289658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584448" y="2289658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2.0%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919472" y="2289658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19472" y="2289658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2.0%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254496" y="2289658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54496" y="2289658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2.3%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7589520" y="2289658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589520" y="2289658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3.0%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164592" y="2496312"/>
            <a:ext cx="2066544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37744" y="2496312"/>
            <a:ext cx="199339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Local Equity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2249424" y="2496312"/>
            <a:ext cx="1316736" cy="206654"/>
          </a:xfrm>
          <a:prstGeom prst="rect">
            <a:avLst/>
          </a:prstGeom>
          <a:solidFill>
            <a:srgbClr val="FA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249424" y="2496312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1.6%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3584448" y="2496312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584448" y="2496312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1.0%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919472" y="2496312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919472" y="2496312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1.0%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254496" y="2496312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54496" y="2496312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1.0%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7589520" y="2496312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589520" y="2496312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1.0%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164592" y="2702966"/>
            <a:ext cx="2066544" cy="206654"/>
          </a:xfrm>
          <a:prstGeom prst="rect">
            <a:avLst/>
          </a:prstGeom>
          <a:solidFill>
            <a:srgbClr val="FFF3E0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37744" y="2702966"/>
            <a:ext cx="199339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4A4A"/>
                </a:solidFill>
              </a:rPr>
              <a:t>Global Equity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2249424" y="2702966"/>
            <a:ext cx="1316736" cy="206654"/>
          </a:xfrm>
          <a:prstGeom prst="rect">
            <a:avLst/>
          </a:prstGeom>
          <a:solidFill>
            <a:srgbClr val="FA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249424" y="2702966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9E9E"/>
                </a:solidFill>
              </a:rPr>
              <a:t>0.0%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3584448" y="2702966"/>
            <a:ext cx="1316736" cy="206654"/>
          </a:xfrm>
          <a:prstGeom prst="rect">
            <a:avLst/>
          </a:prstGeom>
          <a:solidFill>
            <a:srgbClr val="FFF3E0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584448" y="2702966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4.8%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4919472" y="2702966"/>
            <a:ext cx="1316736" cy="206654"/>
          </a:xfrm>
          <a:prstGeom prst="rect">
            <a:avLst/>
          </a:prstGeom>
          <a:solidFill>
            <a:srgbClr val="FFF3E0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919472" y="2702966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4.8%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6254496" y="2702966"/>
            <a:ext cx="1316736" cy="206654"/>
          </a:xfrm>
          <a:prstGeom prst="rect">
            <a:avLst/>
          </a:prstGeom>
          <a:solidFill>
            <a:srgbClr val="FFF3E0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254496" y="2702966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3.0%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7589520" y="2702966"/>
            <a:ext cx="1316736" cy="206654"/>
          </a:xfrm>
          <a:prstGeom prst="rect">
            <a:avLst/>
          </a:prstGeom>
          <a:solidFill>
            <a:srgbClr val="FFF3E0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589520" y="2702966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3.0%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164592" y="2909621"/>
            <a:ext cx="2066544" cy="206654"/>
          </a:xfrm>
          <a:prstGeom prst="rect">
            <a:avLst/>
          </a:prstGeom>
          <a:solidFill>
            <a:srgbClr val="EEEEEE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37744" y="2909621"/>
            <a:ext cx="199339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E9E9E"/>
                </a:solidFill>
              </a:rPr>
              <a:t>Non-Listed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2249424" y="2909621"/>
            <a:ext cx="1316736" cy="206654"/>
          </a:xfrm>
          <a:prstGeom prst="rect">
            <a:avLst/>
          </a:prstGeom>
          <a:solidFill>
            <a:srgbClr val="FA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249424" y="2909621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E9E"/>
                </a:solidFill>
              </a:rPr>
              <a:t>4.8%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3584448" y="2909621"/>
            <a:ext cx="1316736" cy="206654"/>
          </a:xfrm>
          <a:prstGeom prst="rect">
            <a:avLst/>
          </a:prstGeom>
          <a:solidFill>
            <a:srgbClr val="EEEEEE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584448" y="2909621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E9E"/>
                </a:solidFill>
              </a:rPr>
              <a:t>4.8%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4919472" y="2909621"/>
            <a:ext cx="1316736" cy="206654"/>
          </a:xfrm>
          <a:prstGeom prst="rect">
            <a:avLst/>
          </a:prstGeom>
          <a:solidFill>
            <a:srgbClr val="EEEEEE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919472" y="2909621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E9E"/>
                </a:solidFill>
              </a:rPr>
              <a:t>4.8%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6254496" y="2909621"/>
            <a:ext cx="1316736" cy="206654"/>
          </a:xfrm>
          <a:prstGeom prst="rect">
            <a:avLst/>
          </a:prstGeom>
          <a:solidFill>
            <a:srgbClr val="EEEEEE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254496" y="2909621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E9E"/>
                </a:solidFill>
              </a:rPr>
              <a:t>4.8%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7589520" y="2909621"/>
            <a:ext cx="1316736" cy="206654"/>
          </a:xfrm>
          <a:prstGeom prst="rect">
            <a:avLst/>
          </a:prstGeom>
          <a:solidFill>
            <a:srgbClr val="EEEEEE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589520" y="2909621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E9E"/>
                </a:solidFill>
              </a:rPr>
              <a:t>4.8%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164592" y="3116275"/>
            <a:ext cx="2066544" cy="206654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37744" y="3116275"/>
            <a:ext cx="199339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A4A4A"/>
                </a:solidFill>
              </a:rPr>
              <a:t>Investable Total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2249424" y="3116275"/>
            <a:ext cx="1316736" cy="206654"/>
          </a:xfrm>
          <a:prstGeom prst="rect">
            <a:avLst/>
          </a:prstGeom>
          <a:solidFill>
            <a:srgbClr val="FAF5F5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249424" y="3116275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4A4A"/>
                </a:solidFill>
              </a:rPr>
              <a:t>95.2%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3584448" y="3116275"/>
            <a:ext cx="1316736" cy="206654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584448" y="3116275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4A4A"/>
                </a:solidFill>
              </a:rPr>
              <a:t>95.2%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4919472" y="3116275"/>
            <a:ext cx="1316736" cy="206654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919472" y="3116275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4A4A"/>
                </a:solidFill>
              </a:rPr>
              <a:t>95.2%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6254496" y="3116275"/>
            <a:ext cx="1316736" cy="206654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254496" y="3116275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4A4A"/>
                </a:solidFill>
              </a:rPr>
              <a:t>95.2%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7589520" y="3116275"/>
            <a:ext cx="1316736" cy="206654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7589520" y="3116275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4A4A"/>
                </a:solidFill>
              </a:rPr>
              <a:t>95.2%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164592" y="3322930"/>
            <a:ext cx="8814816" cy="201168"/>
          </a:xfrm>
          <a:prstGeom prst="rect">
            <a:avLst/>
          </a:prstGeom>
          <a:solidFill>
            <a:srgbClr val="E8EAF6"/>
          </a:solidFill>
          <a:ln w="3810">
            <a:solidFill>
              <a:srgbClr val="C5CAE9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37744" y="332293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237E"/>
                </a:solidFill>
              </a:rPr>
              <a:t>RISK / RETURN METRICS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164592" y="3542386"/>
            <a:ext cx="2066544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37744" y="3542386"/>
            <a:ext cx="199339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Expected Return (ann.)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2249424" y="3542386"/>
            <a:ext cx="1316736" cy="206654"/>
          </a:xfrm>
          <a:prstGeom prst="rect">
            <a:avLst/>
          </a:prstGeom>
          <a:solidFill>
            <a:srgbClr val="FA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2249424" y="3542386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1.39%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3584448" y="3542386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3584448" y="3542386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1.66%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4919472" y="3542386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919472" y="3542386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1.74%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6254496" y="3542386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254496" y="3542386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1.56%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7589520" y="3542386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589520" y="3542386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1.59%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164592" y="3749040"/>
            <a:ext cx="2066544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37744" y="3749040"/>
            <a:ext cx="199339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Portfolio SD (ann.)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2249424" y="3749040"/>
            <a:ext cx="1316736" cy="206654"/>
          </a:xfrm>
          <a:prstGeom prst="rect">
            <a:avLst/>
          </a:prstGeom>
          <a:solidFill>
            <a:srgbClr val="FA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249424" y="3749040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0.944%</a:t>
            </a:r>
            <a:endParaRPr lang="en-US" sz="850" dirty="0"/>
          </a:p>
        </p:txBody>
      </p:sp>
      <p:sp>
        <p:nvSpPr>
          <p:cNvPr id="155" name="Shape 153"/>
          <p:cNvSpPr/>
          <p:nvPr/>
        </p:nvSpPr>
        <p:spPr>
          <a:xfrm>
            <a:off x="3584448" y="3749040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584448" y="3749040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1.323%</a:t>
            </a:r>
            <a:endParaRPr lang="en-US" sz="850" dirty="0"/>
          </a:p>
        </p:txBody>
      </p:sp>
      <p:sp>
        <p:nvSpPr>
          <p:cNvPr id="157" name="Shape 155"/>
          <p:cNvSpPr/>
          <p:nvPr/>
        </p:nvSpPr>
        <p:spPr>
          <a:xfrm>
            <a:off x="4919472" y="3749040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919472" y="3749040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1.402%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6254496" y="3749040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254496" y="3749040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1.143%</a:t>
            </a:r>
            <a:endParaRPr 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7589520" y="3749040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7589520" y="3749040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1.198%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164592" y="3955694"/>
            <a:ext cx="2066544" cy="206654"/>
          </a:xfrm>
          <a:prstGeom prst="rect">
            <a:avLst/>
          </a:prstGeom>
          <a:solidFill>
            <a:srgbClr val="FFF3E0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37744" y="3955694"/>
            <a:ext cx="199339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4A4A"/>
                </a:solidFill>
              </a:rPr>
              <a:t>Sharpe Ratio  (Rf=1.25%)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2249424" y="3955694"/>
            <a:ext cx="1316736" cy="206654"/>
          </a:xfrm>
          <a:prstGeom prst="rect">
            <a:avLst/>
          </a:prstGeom>
          <a:solidFill>
            <a:srgbClr val="FA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249424" y="3955694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4A4A"/>
                </a:solidFill>
              </a:rPr>
              <a:t>0.147</a:t>
            </a:r>
            <a:endParaRPr lang="en-US" sz="950" dirty="0"/>
          </a:p>
        </p:txBody>
      </p:sp>
      <p:sp>
        <p:nvSpPr>
          <p:cNvPr id="167" name="Shape 165"/>
          <p:cNvSpPr/>
          <p:nvPr/>
        </p:nvSpPr>
        <p:spPr>
          <a:xfrm>
            <a:off x="3584448" y="3955694"/>
            <a:ext cx="1316736" cy="206654"/>
          </a:xfrm>
          <a:prstGeom prst="rect">
            <a:avLst/>
          </a:prstGeom>
          <a:solidFill>
            <a:srgbClr val="FFF3E0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3584448" y="3955694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0.306</a:t>
            </a:r>
            <a:endParaRPr lang="en-US" sz="950" dirty="0"/>
          </a:p>
        </p:txBody>
      </p:sp>
      <p:sp>
        <p:nvSpPr>
          <p:cNvPr id="169" name="Shape 167"/>
          <p:cNvSpPr/>
          <p:nvPr/>
        </p:nvSpPr>
        <p:spPr>
          <a:xfrm>
            <a:off x="4919472" y="3955694"/>
            <a:ext cx="1316736" cy="206654"/>
          </a:xfrm>
          <a:prstGeom prst="rect">
            <a:avLst/>
          </a:prstGeom>
          <a:solidFill>
            <a:srgbClr val="FFF3E0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919472" y="3955694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0.347</a:t>
            </a:r>
            <a:endParaRPr lang="en-US" sz="950" dirty="0"/>
          </a:p>
        </p:txBody>
      </p:sp>
      <p:sp>
        <p:nvSpPr>
          <p:cNvPr id="171" name="Shape 169"/>
          <p:cNvSpPr/>
          <p:nvPr/>
        </p:nvSpPr>
        <p:spPr>
          <a:xfrm>
            <a:off x="6254496" y="3955694"/>
            <a:ext cx="1316736" cy="206654"/>
          </a:xfrm>
          <a:prstGeom prst="rect">
            <a:avLst/>
          </a:prstGeom>
          <a:solidFill>
            <a:srgbClr val="FFF3E0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6254496" y="3955694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0.269</a:t>
            </a:r>
            <a:endParaRPr lang="en-US" sz="950" dirty="0"/>
          </a:p>
        </p:txBody>
      </p:sp>
      <p:sp>
        <p:nvSpPr>
          <p:cNvPr id="173" name="Shape 171"/>
          <p:cNvSpPr/>
          <p:nvPr/>
        </p:nvSpPr>
        <p:spPr>
          <a:xfrm>
            <a:off x="7589520" y="3955694"/>
            <a:ext cx="1316736" cy="206654"/>
          </a:xfrm>
          <a:prstGeom prst="rect">
            <a:avLst/>
          </a:prstGeom>
          <a:solidFill>
            <a:srgbClr val="FFF3E0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7589520" y="3955694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</a:rPr>
              <a:t>0.283</a:t>
            </a:r>
            <a:endParaRPr lang="en-US" sz="950" dirty="0"/>
          </a:p>
        </p:txBody>
      </p:sp>
      <p:sp>
        <p:nvSpPr>
          <p:cNvPr id="175" name="Shape 173"/>
          <p:cNvSpPr/>
          <p:nvPr/>
        </p:nvSpPr>
        <p:spPr>
          <a:xfrm>
            <a:off x="164592" y="4162349"/>
            <a:ext cx="2066544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237744" y="4162349"/>
            <a:ext cx="199339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Avg RBC Charge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2249424" y="4162349"/>
            <a:ext cx="1316736" cy="206654"/>
          </a:xfrm>
          <a:prstGeom prst="rect">
            <a:avLst/>
          </a:prstGeom>
          <a:solidFill>
            <a:srgbClr val="FA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2249424" y="4162349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4.58%</a:t>
            </a:r>
            <a:endParaRPr lang="en-US" sz="850" dirty="0"/>
          </a:p>
        </p:txBody>
      </p:sp>
      <p:sp>
        <p:nvSpPr>
          <p:cNvPr id="179" name="Shape 177"/>
          <p:cNvSpPr/>
          <p:nvPr/>
        </p:nvSpPr>
        <p:spPr>
          <a:xfrm>
            <a:off x="3584448" y="4162349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3584448" y="4162349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5.47%</a:t>
            </a:r>
            <a:endParaRPr lang="en-US" sz="850" dirty="0"/>
          </a:p>
        </p:txBody>
      </p:sp>
      <p:sp>
        <p:nvSpPr>
          <p:cNvPr id="181" name="Shape 179"/>
          <p:cNvSpPr/>
          <p:nvPr/>
        </p:nvSpPr>
        <p:spPr>
          <a:xfrm>
            <a:off x="4919472" y="4162349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4919472" y="4162349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5.54%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6254496" y="4162349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6254496" y="4162349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5.11%</a:t>
            </a:r>
            <a:endParaRPr lang="en-US" sz="850" dirty="0"/>
          </a:p>
        </p:txBody>
      </p:sp>
      <p:sp>
        <p:nvSpPr>
          <p:cNvPr id="185" name="Shape 183"/>
          <p:cNvSpPr/>
          <p:nvPr/>
        </p:nvSpPr>
        <p:spPr>
          <a:xfrm>
            <a:off x="7589520" y="4162349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7589520" y="4162349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5.19%</a:t>
            </a:r>
            <a:endParaRPr lang="en-US" sz="850" dirty="0"/>
          </a:p>
        </p:txBody>
      </p:sp>
      <p:sp>
        <p:nvSpPr>
          <p:cNvPr id="187" name="Shape 185"/>
          <p:cNvSpPr/>
          <p:nvPr/>
        </p:nvSpPr>
        <p:spPr>
          <a:xfrm>
            <a:off x="164592" y="4369003"/>
            <a:ext cx="2066544" cy="206654"/>
          </a:xfrm>
          <a:prstGeom prst="rect">
            <a:avLst/>
          </a:prstGeom>
          <a:solidFill>
            <a:srgbClr val="FFF3E0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237744" y="4369003"/>
            <a:ext cx="199339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4A4A"/>
                </a:solidFill>
              </a:rPr>
              <a:t>Solvency Efficiency ★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2249424" y="4369003"/>
            <a:ext cx="1316736" cy="206654"/>
          </a:xfrm>
          <a:prstGeom prst="rect">
            <a:avLst/>
          </a:prstGeom>
          <a:solidFill>
            <a:srgbClr val="FA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2249424" y="4369003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4A4A"/>
                </a:solidFill>
              </a:rPr>
              <a:t>0.303</a:t>
            </a:r>
            <a:endParaRPr lang="en-US" sz="950" dirty="0"/>
          </a:p>
        </p:txBody>
      </p:sp>
      <p:sp>
        <p:nvSpPr>
          <p:cNvPr id="191" name="Shape 189"/>
          <p:cNvSpPr/>
          <p:nvPr/>
        </p:nvSpPr>
        <p:spPr>
          <a:xfrm>
            <a:off x="3584448" y="4369003"/>
            <a:ext cx="1316736" cy="206654"/>
          </a:xfrm>
          <a:prstGeom prst="rect">
            <a:avLst/>
          </a:prstGeom>
          <a:solidFill>
            <a:srgbClr val="FFF3E0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3584448" y="4369003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0.302</a:t>
            </a:r>
            <a:endParaRPr lang="en-US" sz="950" dirty="0"/>
          </a:p>
        </p:txBody>
      </p:sp>
      <p:sp>
        <p:nvSpPr>
          <p:cNvPr id="193" name="Shape 191"/>
          <p:cNvSpPr/>
          <p:nvPr/>
        </p:nvSpPr>
        <p:spPr>
          <a:xfrm>
            <a:off x="4919472" y="4369003"/>
            <a:ext cx="1316736" cy="206654"/>
          </a:xfrm>
          <a:prstGeom prst="rect">
            <a:avLst/>
          </a:prstGeom>
          <a:solidFill>
            <a:srgbClr val="FFF3E0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4919472" y="4369003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0.314</a:t>
            </a:r>
            <a:endParaRPr lang="en-US" sz="950" dirty="0"/>
          </a:p>
        </p:txBody>
      </p:sp>
      <p:sp>
        <p:nvSpPr>
          <p:cNvPr id="195" name="Shape 193"/>
          <p:cNvSpPr/>
          <p:nvPr/>
        </p:nvSpPr>
        <p:spPr>
          <a:xfrm>
            <a:off x="6254496" y="4369003"/>
            <a:ext cx="1316736" cy="206654"/>
          </a:xfrm>
          <a:prstGeom prst="rect">
            <a:avLst/>
          </a:prstGeom>
          <a:solidFill>
            <a:srgbClr val="FFF3E0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6254496" y="4369003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0.305</a:t>
            </a:r>
            <a:endParaRPr lang="en-US" sz="950" dirty="0"/>
          </a:p>
        </p:txBody>
      </p:sp>
      <p:sp>
        <p:nvSpPr>
          <p:cNvPr id="197" name="Shape 195"/>
          <p:cNvSpPr/>
          <p:nvPr/>
        </p:nvSpPr>
        <p:spPr>
          <a:xfrm>
            <a:off x="7589520" y="4369003"/>
            <a:ext cx="1316736" cy="206654"/>
          </a:xfrm>
          <a:prstGeom prst="rect">
            <a:avLst/>
          </a:prstGeom>
          <a:solidFill>
            <a:srgbClr val="FFF3E0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7589520" y="4369003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</a:rPr>
              <a:t>0.306</a:t>
            </a:r>
            <a:endParaRPr lang="en-US" sz="950" dirty="0"/>
          </a:p>
        </p:txBody>
      </p:sp>
      <p:sp>
        <p:nvSpPr>
          <p:cNvPr id="199" name="Shape 197"/>
          <p:cNvSpPr/>
          <p:nvPr/>
        </p:nvSpPr>
        <p:spPr>
          <a:xfrm>
            <a:off x="164592" y="4575658"/>
            <a:ext cx="2066544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237744" y="4575658"/>
            <a:ext cx="1993392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CAR Base (%)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2249424" y="4575658"/>
            <a:ext cx="1316736" cy="206654"/>
          </a:xfrm>
          <a:prstGeom prst="rect">
            <a:avLst/>
          </a:prstGeom>
          <a:solidFill>
            <a:srgbClr val="FAF5F5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2249424" y="4575658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211.4%</a:t>
            </a:r>
            <a:endParaRPr lang="en-US" sz="850" dirty="0"/>
          </a:p>
        </p:txBody>
      </p:sp>
      <p:sp>
        <p:nvSpPr>
          <p:cNvPr id="203" name="Shape 201"/>
          <p:cNvSpPr/>
          <p:nvPr/>
        </p:nvSpPr>
        <p:spPr>
          <a:xfrm>
            <a:off x="3584448" y="4575658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584448" y="4575658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8600"/>
                </a:solidFill>
              </a:rPr>
              <a:t>197.2%</a:t>
            </a:r>
            <a:endParaRPr lang="en-US" sz="850" dirty="0"/>
          </a:p>
        </p:txBody>
      </p:sp>
      <p:sp>
        <p:nvSpPr>
          <p:cNvPr id="205" name="Shape 203"/>
          <p:cNvSpPr/>
          <p:nvPr/>
        </p:nvSpPr>
        <p:spPr>
          <a:xfrm>
            <a:off x="4919472" y="4575658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4919472" y="4575658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8600"/>
                </a:solidFill>
              </a:rPr>
              <a:t>196.3%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6254496" y="4575658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6254496" y="4575658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8600"/>
                </a:solidFill>
              </a:rPr>
              <a:t>202.7%</a:t>
            </a:r>
            <a:endParaRPr lang="en-US" sz="850" dirty="0"/>
          </a:p>
        </p:txBody>
      </p:sp>
      <p:sp>
        <p:nvSpPr>
          <p:cNvPr id="209" name="Shape 207"/>
          <p:cNvSpPr/>
          <p:nvPr/>
        </p:nvSpPr>
        <p:spPr>
          <a:xfrm>
            <a:off x="7589520" y="4575658"/>
            <a:ext cx="1316736" cy="206654"/>
          </a:xfrm>
          <a:prstGeom prst="rect">
            <a:avLst/>
          </a:prstGeom>
          <a:solidFill>
            <a:srgbClr val="FFFFFF"/>
          </a:solidFill>
          <a:ln w="3810">
            <a:solidFill>
              <a:srgbClr val="E8E8E8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589520" y="4575658"/>
            <a:ext cx="1316736" cy="206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08600"/>
                </a:solidFill>
              </a:rPr>
              <a:t>201.5%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164592" y="4754880"/>
            <a:ext cx="8814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</a:rPr>
              <a:t>★ Key decision metrics. Non-Listed 4.8% bolt-on: Return=Risk=RBC=VaR=0. Global Equity RBC = 25% (OIC approved list). CAR stressed detail on next slide.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0058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0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</a:rPr>
              <a:t>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[SAA] Equity Allocation  |  VaR &amp; CAR Stress Analysis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55280" y="73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ERGO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0" y="3474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 Munich Re company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64592" y="694944"/>
            <a:ext cx="2011680" cy="219456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6949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FOR INFORMATION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4910328"/>
            <a:ext cx="5486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ERGO Thailand  |  Investment Committee · SAA Equity Proposal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00400" y="4910328"/>
            <a:ext cx="2743200" cy="233172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Strictly confidential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778240" y="4910328"/>
            <a:ext cx="274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4592" y="731520"/>
            <a:ext cx="8814816" cy="310896"/>
          </a:xfrm>
          <a:prstGeom prst="rect">
            <a:avLst/>
          </a:prstGeom>
          <a:solidFill>
            <a:srgbClr val="FFF8F8"/>
          </a:solidFill>
          <a:ln/>
        </p:spPr>
        <p:txBody>
          <a:bodyPr wrap="square" lIns="38100" tIns="101600" rIns="1016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VaR: Parametric 99.5%, 1-month (√20). P&amp;L VaR: FVPL assets standalone (GloFI+REIT+LocalEq+GloEq). OCI VaR: FVOCI (Gov+Corp) SD-based primary; DV01 reference in note. ΔTCR = Σ(VaR_standalone_i × RBC_i). TCA=2,091mn | TCR_Ins=622.5mn.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4592" y="1097280"/>
            <a:ext cx="1664208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" y="111556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</a:rPr>
              <a:t>TCA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56032" y="124358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2,091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6032" y="153619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</a:rPr>
              <a:t>THB mn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938528" y="1097280"/>
            <a:ext cx="1664208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029968" y="111556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</a:rPr>
              <a:t>TCR Insurance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029968" y="124358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622.5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029968" y="153619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</a:rPr>
              <a:t>Fixed component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712464" y="1097280"/>
            <a:ext cx="1664208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03904" y="111556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</a:rPr>
              <a:t>CAR Base (Curr)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03904" y="124358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211.4%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803904" y="153619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</a:rPr>
              <a:t>Pre-stress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486400" y="1097280"/>
            <a:ext cx="1664208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77840" y="111556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</a:rPr>
              <a:t>CAR Stressed (P1)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577840" y="124358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189.6%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77840" y="153619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</a:rPr>
              <a:t>After 1m VaR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260336" y="1097280"/>
            <a:ext cx="1664208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51776" y="1115568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E9E9E"/>
                </a:solidFill>
              </a:rPr>
              <a:t>OIC Min CAR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351776" y="1243584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140%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351776" y="153619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</a:rPr>
              <a:t>Regulatory floor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64592" y="1792224"/>
            <a:ext cx="2084832" cy="242316"/>
          </a:xfrm>
          <a:prstGeom prst="rect">
            <a:avLst/>
          </a:prstGeom>
          <a:solidFill>
            <a:srgbClr val="1A1A2E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7744" y="1792224"/>
            <a:ext cx="2084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Metric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67712" y="1792224"/>
            <a:ext cx="987552" cy="242316"/>
          </a:xfrm>
          <a:prstGeom prst="rect">
            <a:avLst/>
          </a:prstGeom>
          <a:solidFill>
            <a:srgbClr val="1A1A2E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67712" y="179222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Current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73552" y="1792224"/>
            <a:ext cx="987552" cy="242316"/>
          </a:xfrm>
          <a:prstGeom prst="rect">
            <a:avLst/>
          </a:prstGeom>
          <a:solidFill>
            <a:srgbClr val="1A1A2E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179222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Port 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79392" y="1792224"/>
            <a:ext cx="987552" cy="242316"/>
          </a:xfrm>
          <a:prstGeom prst="rect">
            <a:avLst/>
          </a:prstGeom>
          <a:solidFill>
            <a:srgbClr val="1A1A2E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79392" y="179222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Port 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285232" y="1792224"/>
            <a:ext cx="987552" cy="242316"/>
          </a:xfrm>
          <a:prstGeom prst="rect">
            <a:avLst/>
          </a:prstGeom>
          <a:solidFill>
            <a:srgbClr val="1A1A2E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85232" y="179222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Port 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91072" y="1792224"/>
            <a:ext cx="987552" cy="242316"/>
          </a:xfrm>
          <a:prstGeom prst="rect">
            <a:avLst/>
          </a:prstGeom>
          <a:solidFill>
            <a:srgbClr val="1A1A2E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179222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Port 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4592" y="2034540"/>
            <a:ext cx="208483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034540"/>
            <a:ext cx="2084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Portfolio SD ann. (%)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267712" y="2034540"/>
            <a:ext cx="987552" cy="242316"/>
          </a:xfrm>
          <a:prstGeom prst="rect">
            <a:avLst/>
          </a:prstGeom>
          <a:solidFill>
            <a:srgbClr val="FAF5F5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67712" y="203454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0.944%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73552" y="2034540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73552" y="203454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1.323%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279392" y="2034540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79392" y="203454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1.402%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285232" y="2034540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85232" y="203454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1.143%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91072" y="2034540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91072" y="203454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1.198%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164592" y="2276856"/>
            <a:ext cx="2084832" cy="242316"/>
          </a:xfrm>
          <a:prstGeom prst="rect">
            <a:avLst/>
          </a:prstGeom>
          <a:solidFill>
            <a:srgbClr val="FFF3E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7744" y="2276856"/>
            <a:ext cx="2084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4A4A"/>
                </a:solidFill>
              </a:rPr>
              <a:t>1-Month VaR (mn)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267712" y="2276856"/>
            <a:ext cx="987552" cy="242316"/>
          </a:xfrm>
          <a:prstGeom prst="rect">
            <a:avLst/>
          </a:prstGeom>
          <a:solidFill>
            <a:srgbClr val="FFF0F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67712" y="2276856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102E"/>
                </a:solidFill>
              </a:rPr>
              <a:t>54.8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73552" y="2276856"/>
            <a:ext cx="987552" cy="242316"/>
          </a:xfrm>
          <a:prstGeom prst="rect">
            <a:avLst/>
          </a:prstGeom>
          <a:solidFill>
            <a:srgbClr val="FFF3E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73552" y="2276856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76.8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279392" y="2276856"/>
            <a:ext cx="987552" cy="242316"/>
          </a:xfrm>
          <a:prstGeom prst="rect">
            <a:avLst/>
          </a:prstGeom>
          <a:solidFill>
            <a:srgbClr val="FFF3E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79392" y="2276856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81.4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285232" y="2276856"/>
            <a:ext cx="987552" cy="242316"/>
          </a:xfrm>
          <a:prstGeom prst="rect">
            <a:avLst/>
          </a:prstGeom>
          <a:solidFill>
            <a:srgbClr val="FFF3E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85232" y="2276856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66.4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291072" y="2276856"/>
            <a:ext cx="987552" cy="242316"/>
          </a:xfrm>
          <a:prstGeom prst="rect">
            <a:avLst/>
          </a:prstGeom>
          <a:solidFill>
            <a:srgbClr val="FFF3E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91072" y="2276856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69.6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164592" y="2519172"/>
            <a:ext cx="2084832" cy="242316"/>
          </a:xfrm>
          <a:prstGeom prst="rect">
            <a:avLst/>
          </a:prstGeom>
          <a:solidFill>
            <a:srgbClr val="F9F9F9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37744" y="2519172"/>
            <a:ext cx="2084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1-Year VaR (mn) [ref]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267712" y="2519172"/>
            <a:ext cx="987552" cy="242316"/>
          </a:xfrm>
          <a:prstGeom prst="rect">
            <a:avLst/>
          </a:prstGeom>
          <a:solidFill>
            <a:srgbClr val="FAF5F5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267712" y="2519172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194.6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273552" y="2519172"/>
            <a:ext cx="987552" cy="242316"/>
          </a:xfrm>
          <a:prstGeom prst="rect">
            <a:avLst/>
          </a:prstGeom>
          <a:solidFill>
            <a:srgbClr val="F9F9F9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73552" y="2519172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E9E"/>
                </a:solidFill>
              </a:rPr>
              <a:t>272.7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279392" y="2519172"/>
            <a:ext cx="987552" cy="242316"/>
          </a:xfrm>
          <a:prstGeom prst="rect">
            <a:avLst/>
          </a:prstGeom>
          <a:solidFill>
            <a:srgbClr val="F9F9F9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79392" y="2519172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E9E"/>
                </a:solidFill>
              </a:rPr>
              <a:t>288.9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285232" y="2519172"/>
            <a:ext cx="987552" cy="242316"/>
          </a:xfrm>
          <a:prstGeom prst="rect">
            <a:avLst/>
          </a:prstGeom>
          <a:solidFill>
            <a:srgbClr val="F9F9F9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285232" y="2519172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E9E"/>
                </a:solidFill>
              </a:rPr>
              <a:t>235.6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291072" y="2519172"/>
            <a:ext cx="987552" cy="242316"/>
          </a:xfrm>
          <a:prstGeom prst="rect">
            <a:avLst/>
          </a:prstGeom>
          <a:solidFill>
            <a:srgbClr val="F9F9F9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91072" y="2519172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E9E"/>
                </a:solidFill>
              </a:rPr>
              <a:t>247.0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164592" y="2761488"/>
            <a:ext cx="2084832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37744" y="2761488"/>
            <a:ext cx="2084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P&amp;L VaR standalone (mn)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2267712" y="2761488"/>
            <a:ext cx="987552" cy="242316"/>
          </a:xfrm>
          <a:prstGeom prst="rect">
            <a:avLst/>
          </a:prstGeom>
          <a:solidFill>
            <a:srgbClr val="FAF5F5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267712" y="2761488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33.8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273552" y="2761488"/>
            <a:ext cx="987552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73552" y="2761488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71.8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279392" y="2761488"/>
            <a:ext cx="987552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79392" y="2761488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87.4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285232" y="2761488"/>
            <a:ext cx="987552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285232" y="2761488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56.8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291072" y="2761488"/>
            <a:ext cx="987552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291072" y="2761488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62.3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164592" y="3003804"/>
            <a:ext cx="208483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37744" y="3003804"/>
            <a:ext cx="2084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OCI VaR SD standalone (mn)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2267712" y="3003804"/>
            <a:ext cx="987552" cy="242316"/>
          </a:xfrm>
          <a:prstGeom prst="rect">
            <a:avLst/>
          </a:prstGeom>
          <a:solidFill>
            <a:srgbClr val="FAF5F5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267712" y="300380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46.1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273552" y="3003804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273552" y="300380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43.1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279392" y="3003804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279392" y="300380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40.9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5285232" y="3003804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285232" y="300380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44.7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6291072" y="3003804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291072" y="300380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43.9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164592" y="3246120"/>
            <a:ext cx="2084832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37744" y="3246120"/>
            <a:ext cx="2084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TCA Stressed (mn)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2267712" y="3246120"/>
            <a:ext cx="987552" cy="242316"/>
          </a:xfrm>
          <a:prstGeom prst="rect">
            <a:avLst/>
          </a:prstGeom>
          <a:solidFill>
            <a:srgbClr val="FAF5F5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267712" y="324612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2011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3273552" y="3246120"/>
            <a:ext cx="987552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273552" y="324612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1976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4279392" y="3246120"/>
            <a:ext cx="987552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279392" y="324612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1963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5285232" y="3246120"/>
            <a:ext cx="987552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285232" y="324612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1989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6291072" y="3246120"/>
            <a:ext cx="987552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291072" y="324612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1985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164592" y="3488436"/>
            <a:ext cx="2084832" cy="242316"/>
          </a:xfrm>
          <a:prstGeom prst="rect">
            <a:avLst/>
          </a:prstGeom>
          <a:solidFill>
            <a:srgbClr val="FFF3E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37744" y="3488436"/>
            <a:ext cx="2084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4A4A"/>
                </a:solidFill>
              </a:rPr>
              <a:t>ΔTCR (mn)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2267712" y="3488436"/>
            <a:ext cx="987552" cy="242316"/>
          </a:xfrm>
          <a:prstGeom prst="rect">
            <a:avLst/>
          </a:prstGeom>
          <a:solidFill>
            <a:srgbClr val="FFF0F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267712" y="3488436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102E"/>
                </a:solidFill>
              </a:rPr>
              <a:t>7.84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3273552" y="3488436"/>
            <a:ext cx="987552" cy="242316"/>
          </a:xfrm>
          <a:prstGeom prst="rect">
            <a:avLst/>
          </a:prstGeom>
          <a:solidFill>
            <a:srgbClr val="FFF3E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273552" y="3488436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17.80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4279392" y="3488436"/>
            <a:ext cx="987552" cy="242316"/>
          </a:xfrm>
          <a:prstGeom prst="rect">
            <a:avLst/>
          </a:prstGeom>
          <a:solidFill>
            <a:srgbClr val="FFF3E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279392" y="3488436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18.60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5285232" y="3488436"/>
            <a:ext cx="987552" cy="242316"/>
          </a:xfrm>
          <a:prstGeom prst="rect">
            <a:avLst/>
          </a:prstGeom>
          <a:solidFill>
            <a:srgbClr val="FFF3E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5285232" y="3488436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13.90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6291072" y="3488436"/>
            <a:ext cx="987552" cy="242316"/>
          </a:xfrm>
          <a:prstGeom prst="rect">
            <a:avLst/>
          </a:prstGeom>
          <a:solidFill>
            <a:srgbClr val="FFF3E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291072" y="3488436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14.80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164592" y="3730752"/>
            <a:ext cx="2084832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37744" y="3730752"/>
            <a:ext cx="2084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TCR Stressed (mn)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2267712" y="3730752"/>
            <a:ext cx="987552" cy="242316"/>
          </a:xfrm>
          <a:prstGeom prst="rect">
            <a:avLst/>
          </a:prstGeom>
          <a:solidFill>
            <a:srgbClr val="FAF5F5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267712" y="3730752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981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3273552" y="3730752"/>
            <a:ext cx="987552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273552" y="3730752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1042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4279392" y="3730752"/>
            <a:ext cx="987552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279392" y="3730752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1047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5285232" y="3730752"/>
            <a:ext cx="987552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285232" y="3730752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1018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6291072" y="3730752"/>
            <a:ext cx="987552" cy="242316"/>
          </a:xfrm>
          <a:prstGeom prst="rect">
            <a:avLst/>
          </a:prstGeom>
          <a:solidFill>
            <a:srgbClr val="FFFFFF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291072" y="3730752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1023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164592" y="3973068"/>
            <a:ext cx="208483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237744" y="3973068"/>
            <a:ext cx="2084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CAR Base (%)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2267712" y="3973068"/>
            <a:ext cx="987552" cy="242316"/>
          </a:xfrm>
          <a:prstGeom prst="rect">
            <a:avLst/>
          </a:prstGeom>
          <a:solidFill>
            <a:srgbClr val="FAF5F5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267712" y="3973068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211.4%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3273552" y="3973068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273552" y="3973068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197.2%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4279392" y="3973068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279392" y="3973068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196.3%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5285232" y="3973068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285232" y="3973068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202.7%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6291072" y="3973068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291072" y="3973068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</a:rPr>
              <a:t>201.5%</a:t>
            </a:r>
            <a:endParaRPr lang="en-US" sz="850" dirty="0"/>
          </a:p>
        </p:txBody>
      </p:sp>
      <p:sp>
        <p:nvSpPr>
          <p:cNvPr id="155" name="Shape 153"/>
          <p:cNvSpPr/>
          <p:nvPr/>
        </p:nvSpPr>
        <p:spPr>
          <a:xfrm>
            <a:off x="164592" y="4215384"/>
            <a:ext cx="2084832" cy="242316"/>
          </a:xfrm>
          <a:prstGeom prst="rect">
            <a:avLst/>
          </a:prstGeom>
          <a:solidFill>
            <a:srgbClr val="FFF3E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37744" y="4215384"/>
            <a:ext cx="2084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4A4A"/>
                </a:solidFill>
              </a:rPr>
              <a:t>CAR Stressed (%)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2267712" y="4215384"/>
            <a:ext cx="987552" cy="242316"/>
          </a:xfrm>
          <a:prstGeom prst="rect">
            <a:avLst/>
          </a:prstGeom>
          <a:solidFill>
            <a:srgbClr val="FFF0F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267712" y="421538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102E"/>
                </a:solidFill>
              </a:rPr>
              <a:t>204.9%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3273552" y="4215384"/>
            <a:ext cx="987552" cy="242316"/>
          </a:xfrm>
          <a:prstGeom prst="rect">
            <a:avLst/>
          </a:prstGeom>
          <a:solidFill>
            <a:srgbClr val="FFF3E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273552" y="421538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102E"/>
                </a:solidFill>
              </a:rPr>
              <a:t>189.6%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4279392" y="4215384"/>
            <a:ext cx="987552" cy="242316"/>
          </a:xfrm>
          <a:prstGeom prst="rect">
            <a:avLst/>
          </a:prstGeom>
          <a:solidFill>
            <a:srgbClr val="FFF3E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279392" y="421538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102E"/>
                </a:solidFill>
              </a:rPr>
              <a:t>187.5%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5285232" y="4215384"/>
            <a:ext cx="987552" cy="242316"/>
          </a:xfrm>
          <a:prstGeom prst="rect">
            <a:avLst/>
          </a:prstGeom>
          <a:solidFill>
            <a:srgbClr val="FFF3E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5285232" y="421538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8600"/>
                </a:solidFill>
              </a:rPr>
              <a:t>195.5%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6291072" y="4215384"/>
            <a:ext cx="987552" cy="242316"/>
          </a:xfrm>
          <a:prstGeom prst="rect">
            <a:avLst/>
          </a:prstGeom>
          <a:solidFill>
            <a:srgbClr val="FFF3E0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291072" y="4215384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8600"/>
                </a:solidFill>
              </a:rPr>
              <a:t>194.0%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164592" y="4457700"/>
            <a:ext cx="208483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37744" y="4457700"/>
            <a:ext cx="208483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ΔCAR vs Current (pp)</a:t>
            </a:r>
            <a:endParaRPr lang="en-US" sz="850" dirty="0"/>
          </a:p>
        </p:txBody>
      </p:sp>
      <p:sp>
        <p:nvSpPr>
          <p:cNvPr id="169" name="Shape 167"/>
          <p:cNvSpPr/>
          <p:nvPr/>
        </p:nvSpPr>
        <p:spPr>
          <a:xfrm>
            <a:off x="2267712" y="4457700"/>
            <a:ext cx="987552" cy="242316"/>
          </a:xfrm>
          <a:prstGeom prst="rect">
            <a:avLst/>
          </a:prstGeom>
          <a:solidFill>
            <a:srgbClr val="FAF5F5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267712" y="445770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4A4A"/>
                </a:solidFill>
              </a:rPr>
              <a:t>-6.4</a:t>
            </a:r>
            <a:endParaRPr lang="en-US" sz="850" dirty="0"/>
          </a:p>
        </p:txBody>
      </p:sp>
      <p:sp>
        <p:nvSpPr>
          <p:cNvPr id="171" name="Shape 169"/>
          <p:cNvSpPr/>
          <p:nvPr/>
        </p:nvSpPr>
        <p:spPr>
          <a:xfrm>
            <a:off x="3273552" y="4457700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3273552" y="445770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102E"/>
                </a:solidFill>
              </a:rPr>
              <a:t>-21.8</a:t>
            </a:r>
            <a:endParaRPr lang="en-US" sz="850" dirty="0"/>
          </a:p>
        </p:txBody>
      </p:sp>
      <p:sp>
        <p:nvSpPr>
          <p:cNvPr id="173" name="Shape 171"/>
          <p:cNvSpPr/>
          <p:nvPr/>
        </p:nvSpPr>
        <p:spPr>
          <a:xfrm>
            <a:off x="4279392" y="4457700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4279392" y="445770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102E"/>
                </a:solidFill>
              </a:rPr>
              <a:t>-23.9</a:t>
            </a:r>
            <a:endParaRPr lang="en-US" sz="850" dirty="0"/>
          </a:p>
        </p:txBody>
      </p:sp>
      <p:sp>
        <p:nvSpPr>
          <p:cNvPr id="175" name="Shape 173"/>
          <p:cNvSpPr/>
          <p:nvPr/>
        </p:nvSpPr>
        <p:spPr>
          <a:xfrm>
            <a:off x="5285232" y="4457700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285232" y="445770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102E"/>
                </a:solidFill>
              </a:rPr>
              <a:t>-15.9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6291072" y="4457700"/>
            <a:ext cx="987552" cy="242316"/>
          </a:xfrm>
          <a:prstGeom prst="rect">
            <a:avLst/>
          </a:prstGeom>
          <a:solidFill>
            <a:srgbClr val="F2F2F2"/>
          </a:solidFill>
          <a:ln w="3810">
            <a:solidFill>
              <a:srgbClr val="DEDEDE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6291072" y="4457700"/>
            <a:ext cx="987552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102E"/>
                </a:solidFill>
              </a:rPr>
              <a:t>-17.4</a:t>
            </a:r>
            <a:endParaRPr lang="en-US" sz="850" dirty="0"/>
          </a:p>
        </p:txBody>
      </p:sp>
      <p:sp>
        <p:nvSpPr>
          <p:cNvPr id="179" name="Text 177"/>
          <p:cNvSpPr/>
          <p:nvPr/>
        </p:nvSpPr>
        <p:spPr>
          <a:xfrm>
            <a:off x="164592" y="4754880"/>
            <a:ext cx="8814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</a:rPr>
              <a:t>Note: 1-Month VaR uses portfolio correlation (diversification benefit ~33% of standalone sum). P&amp;L+OCI standalone sum = TCA stress input (conservative). 1-Year VaR ref: parametric, not historical. DV01 ref (1m): Curr 116.5 | P1 110.0 | P2 104.1 | P3 113.1 | P4 111.5 mn.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0058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0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</a:rPr>
              <a:t>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[SAA] Equity Allocation  |  Implementation — 3 Key Decisions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55280" y="73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ERGO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0" y="3474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 Munich Re company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64592" y="694944"/>
            <a:ext cx="2011680" cy="21945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6949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 DECISIONS REQUIRED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4910328"/>
            <a:ext cx="5486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ERGO Thailand  |  Investment Committee · SAA Equity Proposal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00400" y="4910328"/>
            <a:ext cx="2743200" cy="233172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Strictly confidential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778240" y="4910328"/>
            <a:ext cx="274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4592" y="749808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E9E9E"/>
                </a:solidFill>
              </a:rPr>
              <a:t>Subject to Investment Committee approval of global equity allocation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1024128"/>
            <a:ext cx="8814816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1069848"/>
            <a:ext cx="219456" cy="21945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10698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5488" y="10241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Entry Strategy  —  DCA vs Lump Sum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10241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CC88"/>
                </a:solidFill>
              </a:rPr>
              <a:t>→ Recommend DCA over 3-6 months at fixed monthly intervals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4592" y="1335024"/>
            <a:ext cx="4334256" cy="914400"/>
          </a:xfrm>
          <a:prstGeom prst="rect">
            <a:avLst/>
          </a:prstGeom>
          <a:solidFill>
            <a:srgbClr val="F0F7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1353312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DCA (Recommended)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1572768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72C4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Reduce timing risk over 3-6 months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" y="1783080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72C4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Operationally manageable for first-time allocation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" y="1993392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72C4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Allows monitoring of implementation cost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08576" y="1335024"/>
            <a:ext cx="4334256" cy="9144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1353312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</a:rPr>
              <a:t>Lump Sum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18304" y="1572768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Higher expected return if market rises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18304" y="1783080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Simpler — single transaction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18304" y="1993392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Risk: poor entry timing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4592" y="2286000"/>
            <a:ext cx="8814816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" y="2331720"/>
            <a:ext cx="219456" cy="21945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" y="23317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02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5488" y="2286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Investment Vehicle  —  SMA vs Mutual Fund vs ETF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2286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CC88"/>
                </a:solidFill>
              </a:rPr>
              <a:t>→ SMA preferred: OCI treatment + look-through RBC advantage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64592" y="2596896"/>
            <a:ext cx="4334256" cy="914400"/>
          </a:xfrm>
          <a:prstGeom prst="rect">
            <a:avLst/>
          </a:prstGeom>
          <a:solidFill>
            <a:srgbClr val="F0F7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2615184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SMA — Direct Stocks (Recommended)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2834640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72C4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OCI accounting (FVOCI) → no P&amp;L volatility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74320" y="3044952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72C4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Look-through RBC = 25% (approved list)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4320" y="3255264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72C4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Full transparency, customizable benchmark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08576" y="2596896"/>
            <a:ext cx="4334256" cy="9144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0016" y="2615184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</a:rPr>
              <a:t>Mutual Fund / ETF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18304" y="2834640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FVPL → P&amp;L impact each quarter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18304" y="3044952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Pooled fund RBC may be punitive (50%+)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18304" y="3255264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Simpler operationally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64592" y="3547872"/>
            <a:ext cx="8814816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168" y="3593592"/>
            <a:ext cx="219456" cy="21945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" y="35935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03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75488" y="35478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Currency Hedging  —  Hedged vs Unhedged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43600" y="35478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CC88"/>
                </a:solidFill>
              </a:rPr>
              <a:t>→ Start unhedged — review after 2-3 quarters of operational experience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64592" y="3858768"/>
            <a:ext cx="4334256" cy="914400"/>
          </a:xfrm>
          <a:prstGeom prst="rect">
            <a:avLst/>
          </a:prstGeom>
          <a:solidFill>
            <a:srgbClr val="F0F7FF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" y="3877056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Unhedged (CME Assumption)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4320" y="4096512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72C4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CME return 7.5% is unhedged basis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74320" y="4306824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72C4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Equity allocation benefits from diversification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74320" y="4517136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72C4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</a:rPr>
              <a:t>Long-term USD/THB positive carry for THB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08576" y="3858768"/>
            <a:ext cx="4334256" cy="91440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0016" y="3877056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</a:rPr>
              <a:t>Fully Hedged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18304" y="4096512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Hedging cost ~2.2-2.5% p.a. reduces return to ~5.0%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718304" y="4306824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Eliminates FX volatility risk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18304" y="4517136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· </a:t>
            </a:r>
            <a:pPr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More predictable for P&amp;L purposes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0058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100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</a:rPr>
              <a:t>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914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[SAA] Backup  |  CME &amp; Methodology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55280" y="73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ERGO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0" y="3474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A Munich Re company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64592" y="694944"/>
            <a:ext cx="2011680" cy="219456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6949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BACKUP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4910328"/>
            <a:ext cx="5486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ERGO Thailand  |  Investment Committee · SAA Equity Proposal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00400" y="4910328"/>
            <a:ext cx="2743200" cy="233172"/>
          </a:xfrm>
          <a:prstGeom prst="rect">
            <a:avLst/>
          </a:prstGeom>
          <a:solidFill>
            <a:srgbClr val="8B0000"/>
          </a:solidFill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Strictly confidential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778240" y="4910328"/>
            <a:ext cx="274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4592" y="8046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4A"/>
                </a:solidFill>
              </a:rPr>
              <a:t>Capital Market Assumptions — GSAM/KKP Feb 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4592" y="1042416"/>
            <a:ext cx="1444752" cy="23774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1042416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Asset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27632" y="1042416"/>
            <a:ext cx="530352" cy="23774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27632" y="104241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Return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76272" y="1042416"/>
            <a:ext cx="530352" cy="23774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76272" y="104241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24912" y="1042416"/>
            <a:ext cx="530352" cy="23774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4912" y="104241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Sharpe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73552" y="1042416"/>
            <a:ext cx="530352" cy="23774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73552" y="104241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RBC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22192" y="1042416"/>
            <a:ext cx="713232" cy="23774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2192" y="104241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IFRS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4592" y="1298448"/>
            <a:ext cx="14447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" y="12984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Cash &amp; MMF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27632" y="129844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27632" y="129844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1.3%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176272" y="129844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76272" y="129844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0.0%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24912" y="129844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24912" y="129844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—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73552" y="129844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73552" y="129844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0.20%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822192" y="1298448"/>
            <a:ext cx="7132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22192" y="129844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—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4592" y="1572768"/>
            <a:ext cx="14447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9456" y="15727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Gov Bonds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627632" y="157276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27632" y="157276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1.3%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176272" y="157276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76272" y="157276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1.0%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24912" y="157276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24912" y="157276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0.09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73552" y="157276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73552" y="157276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4.60%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822192" y="1572768"/>
            <a:ext cx="71323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22192" y="15727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OCI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64592" y="1847088"/>
            <a:ext cx="14447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" y="184708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Corp Bonds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627632" y="184708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627632" y="184708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1.3%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176272" y="184708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76272" y="184708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0.8%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724912" y="184708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24912" y="184708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0.10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73552" y="184708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73552" y="184708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4.55%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822192" y="1847088"/>
            <a:ext cx="7132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22192" y="18470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OCI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64592" y="2121408"/>
            <a:ext cx="14447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19456" y="212140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Global FI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627632" y="212140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627632" y="212140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3.0%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176272" y="212140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76272" y="212140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5.6%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724912" y="212140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724912" y="212140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0.32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273552" y="212140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73552" y="212140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5.90%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822192" y="2121408"/>
            <a:ext cx="71323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22192" y="212140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P&amp;L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64592" y="2395728"/>
            <a:ext cx="14447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19456" y="239572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Local REIT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627632" y="239572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27632" y="239572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5.8%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176272" y="239572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176272" y="239572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13.5%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2724912" y="239572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24912" y="239572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0.34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73552" y="239572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73552" y="239572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16.0%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822192" y="2395728"/>
            <a:ext cx="7132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822192" y="239572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P&amp;L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64592" y="2670048"/>
            <a:ext cx="14447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19456" y="267004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Local Equity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1627632" y="267004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627632" y="267004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4.3%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2176272" y="267004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176272" y="267004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17.0%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2724912" y="267004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724912" y="267004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0.18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273552" y="267004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73552" y="267004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18.0%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822192" y="2670048"/>
            <a:ext cx="71323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822192" y="267004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P&amp;L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164592" y="2944368"/>
            <a:ext cx="14447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19456" y="29443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Global Equity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1627632" y="294436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627632" y="294436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7.5%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2176272" y="294436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176272" y="294436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16.6%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2724912" y="294436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724912" y="294436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0.38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273552" y="2944368"/>
            <a:ext cx="53035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273552" y="294436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25.0%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822192" y="2944368"/>
            <a:ext cx="713232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822192" y="294436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11111"/>
                </a:solidFill>
              </a:rPr>
              <a:t>P&amp;L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164592" y="3218688"/>
            <a:ext cx="14447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19456" y="321868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Non-Listed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1627632" y="321868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627632" y="321868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—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2176272" y="321868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176272" y="321868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—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2724912" y="321868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724912" y="321868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—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3273552" y="3218688"/>
            <a:ext cx="53035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273552" y="3218688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0% *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822192" y="3218688"/>
            <a:ext cx="713232" cy="274320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822192" y="321868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E9E"/>
                </a:solidFill>
              </a:rPr>
              <a:t>—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164592" y="351129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E9E9E"/>
                </a:solidFill>
              </a:rPr>
              <a:t>* Non-Listed: RBC=0, Return=0, Risk=0 per management decision (bolt-on 4.8%)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164592" y="3703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</a:rPr>
              <a:t>Correlation Matrix (GSAM Feb 2026, p.43)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713232" y="3904488"/>
            <a:ext cx="530352" cy="10515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13232" y="3904488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Cash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1261872" y="3904488"/>
            <a:ext cx="530352" cy="10515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261872" y="3904488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Gov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1810512" y="3904488"/>
            <a:ext cx="530352" cy="10515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810512" y="3904488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Corp</a:t>
            </a:r>
            <a:endParaRPr lang="en-US" sz="650" dirty="0"/>
          </a:p>
        </p:txBody>
      </p:sp>
      <p:sp>
        <p:nvSpPr>
          <p:cNvPr id="131" name="Shape 129"/>
          <p:cNvSpPr/>
          <p:nvPr/>
        </p:nvSpPr>
        <p:spPr>
          <a:xfrm>
            <a:off x="2359152" y="3904488"/>
            <a:ext cx="530352" cy="10515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359152" y="3904488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GFI</a:t>
            </a:r>
            <a:endParaRPr lang="en-US" sz="650" dirty="0"/>
          </a:p>
        </p:txBody>
      </p:sp>
      <p:sp>
        <p:nvSpPr>
          <p:cNvPr id="133" name="Shape 131"/>
          <p:cNvSpPr/>
          <p:nvPr/>
        </p:nvSpPr>
        <p:spPr>
          <a:xfrm>
            <a:off x="2907792" y="3904488"/>
            <a:ext cx="530352" cy="10515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907792" y="3904488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REIT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3456432" y="3904488"/>
            <a:ext cx="530352" cy="10515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456432" y="3904488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LEq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4005072" y="3904488"/>
            <a:ext cx="530352" cy="10515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005072" y="3904488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GEq</a:t>
            </a:r>
            <a:endParaRPr lang="en-US" sz="650" dirty="0"/>
          </a:p>
        </p:txBody>
      </p:sp>
      <p:sp>
        <p:nvSpPr>
          <p:cNvPr id="139" name="Shape 137"/>
          <p:cNvSpPr/>
          <p:nvPr/>
        </p:nvSpPr>
        <p:spPr>
          <a:xfrm>
            <a:off x="164592" y="4009644"/>
            <a:ext cx="530352" cy="10515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64592" y="400964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Cash</a:t>
            </a:r>
            <a:endParaRPr lang="en-US" sz="650" dirty="0"/>
          </a:p>
        </p:txBody>
      </p:sp>
      <p:sp>
        <p:nvSpPr>
          <p:cNvPr id="141" name="Shape 139"/>
          <p:cNvSpPr/>
          <p:nvPr/>
        </p:nvSpPr>
        <p:spPr>
          <a:xfrm>
            <a:off x="713232" y="4009644"/>
            <a:ext cx="530352" cy="105156"/>
          </a:xfrm>
          <a:prstGeom prst="rect">
            <a:avLst/>
          </a:prstGeom>
          <a:solidFill>
            <a:srgbClr val="4A4A4A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13232" y="400964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1.00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1261872" y="4009644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261872" y="400964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0.00</a:t>
            </a:r>
            <a:endParaRPr lang="en-US" sz="650" dirty="0"/>
          </a:p>
        </p:txBody>
      </p:sp>
      <p:sp>
        <p:nvSpPr>
          <p:cNvPr id="145" name="Shape 143"/>
          <p:cNvSpPr/>
          <p:nvPr/>
        </p:nvSpPr>
        <p:spPr>
          <a:xfrm>
            <a:off x="1810512" y="4009644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810512" y="400964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0.00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2359152" y="4009644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359152" y="400964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0.00</a:t>
            </a:r>
            <a:endParaRPr lang="en-US" sz="650" dirty="0"/>
          </a:p>
        </p:txBody>
      </p:sp>
      <p:sp>
        <p:nvSpPr>
          <p:cNvPr id="149" name="Shape 147"/>
          <p:cNvSpPr/>
          <p:nvPr/>
        </p:nvSpPr>
        <p:spPr>
          <a:xfrm>
            <a:off x="2907792" y="4009644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907792" y="400964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0.00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3456432" y="4009644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3456432" y="400964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0.00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4005072" y="4009644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4005072" y="400964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0.00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164592" y="4114800"/>
            <a:ext cx="530352" cy="10515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64592" y="411480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Gov</a:t>
            </a:r>
            <a:endParaRPr lang="en-US" sz="650" dirty="0"/>
          </a:p>
        </p:txBody>
      </p:sp>
      <p:sp>
        <p:nvSpPr>
          <p:cNvPr id="157" name="Shape 155"/>
          <p:cNvSpPr/>
          <p:nvPr/>
        </p:nvSpPr>
        <p:spPr>
          <a:xfrm>
            <a:off x="713232" y="4114800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713232" y="411480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0.00</a:t>
            </a:r>
            <a:endParaRPr lang="en-US" sz="650" dirty="0"/>
          </a:p>
        </p:txBody>
      </p:sp>
      <p:sp>
        <p:nvSpPr>
          <p:cNvPr id="159" name="Shape 157"/>
          <p:cNvSpPr/>
          <p:nvPr/>
        </p:nvSpPr>
        <p:spPr>
          <a:xfrm>
            <a:off x="1261872" y="4114800"/>
            <a:ext cx="530352" cy="105156"/>
          </a:xfrm>
          <a:prstGeom prst="rect">
            <a:avLst/>
          </a:prstGeom>
          <a:solidFill>
            <a:srgbClr val="4A4A4A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261872" y="411480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1.00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1810512" y="4114800"/>
            <a:ext cx="530352" cy="105156"/>
          </a:xfrm>
          <a:prstGeom prst="rect">
            <a:avLst/>
          </a:prstGeom>
          <a:solidFill>
            <a:srgbClr val="FFE8E8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810512" y="411480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</a:rPr>
              <a:t>0.58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2359152" y="4114800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359152" y="411480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0.11</a:t>
            </a:r>
            <a:endParaRPr lang="en-US" sz="650" dirty="0"/>
          </a:p>
        </p:txBody>
      </p:sp>
      <p:sp>
        <p:nvSpPr>
          <p:cNvPr id="165" name="Shape 163"/>
          <p:cNvSpPr/>
          <p:nvPr/>
        </p:nvSpPr>
        <p:spPr>
          <a:xfrm>
            <a:off x="2907792" y="4114800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2907792" y="411480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0.17</a:t>
            </a:r>
            <a:endParaRPr lang="en-US" sz="650" dirty="0"/>
          </a:p>
        </p:txBody>
      </p:sp>
      <p:sp>
        <p:nvSpPr>
          <p:cNvPr id="167" name="Shape 165"/>
          <p:cNvSpPr/>
          <p:nvPr/>
        </p:nvSpPr>
        <p:spPr>
          <a:xfrm>
            <a:off x="3456432" y="4114800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3456432" y="411480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0.02</a:t>
            </a:r>
            <a:endParaRPr lang="en-US" sz="650" dirty="0"/>
          </a:p>
        </p:txBody>
      </p:sp>
      <p:sp>
        <p:nvSpPr>
          <p:cNvPr id="169" name="Shape 167"/>
          <p:cNvSpPr/>
          <p:nvPr/>
        </p:nvSpPr>
        <p:spPr>
          <a:xfrm>
            <a:off x="4005072" y="4114800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005072" y="411480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0.09</a:t>
            </a:r>
            <a:endParaRPr lang="en-US" sz="650" dirty="0"/>
          </a:p>
        </p:txBody>
      </p:sp>
      <p:sp>
        <p:nvSpPr>
          <p:cNvPr id="171" name="Shape 169"/>
          <p:cNvSpPr/>
          <p:nvPr/>
        </p:nvSpPr>
        <p:spPr>
          <a:xfrm>
            <a:off x="164592" y="4219956"/>
            <a:ext cx="530352" cy="10515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64592" y="4219956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Corp</a:t>
            </a:r>
            <a:endParaRPr lang="en-US" sz="650" dirty="0"/>
          </a:p>
        </p:txBody>
      </p:sp>
      <p:sp>
        <p:nvSpPr>
          <p:cNvPr id="173" name="Shape 171"/>
          <p:cNvSpPr/>
          <p:nvPr/>
        </p:nvSpPr>
        <p:spPr>
          <a:xfrm>
            <a:off x="713232" y="4219956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713232" y="4219956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0.00</a:t>
            </a:r>
            <a:endParaRPr lang="en-US" sz="650" dirty="0"/>
          </a:p>
        </p:txBody>
      </p:sp>
      <p:sp>
        <p:nvSpPr>
          <p:cNvPr id="175" name="Shape 173"/>
          <p:cNvSpPr/>
          <p:nvPr/>
        </p:nvSpPr>
        <p:spPr>
          <a:xfrm>
            <a:off x="1261872" y="4219956"/>
            <a:ext cx="530352" cy="105156"/>
          </a:xfrm>
          <a:prstGeom prst="rect">
            <a:avLst/>
          </a:prstGeom>
          <a:solidFill>
            <a:srgbClr val="FFE8E8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261872" y="4219956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</a:rPr>
              <a:t>0.58</a:t>
            </a:r>
            <a:endParaRPr lang="en-US" sz="650" dirty="0"/>
          </a:p>
        </p:txBody>
      </p:sp>
      <p:sp>
        <p:nvSpPr>
          <p:cNvPr id="177" name="Shape 175"/>
          <p:cNvSpPr/>
          <p:nvPr/>
        </p:nvSpPr>
        <p:spPr>
          <a:xfrm>
            <a:off x="1810512" y="4219956"/>
            <a:ext cx="530352" cy="105156"/>
          </a:xfrm>
          <a:prstGeom prst="rect">
            <a:avLst/>
          </a:prstGeom>
          <a:solidFill>
            <a:srgbClr val="4A4A4A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810512" y="4219956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1.00</a:t>
            </a:r>
            <a:endParaRPr lang="en-US" sz="650" dirty="0"/>
          </a:p>
        </p:txBody>
      </p:sp>
      <p:sp>
        <p:nvSpPr>
          <p:cNvPr id="179" name="Shape 177"/>
          <p:cNvSpPr/>
          <p:nvPr/>
        </p:nvSpPr>
        <p:spPr>
          <a:xfrm>
            <a:off x="2359152" y="4219956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359152" y="4219956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0.10</a:t>
            </a:r>
            <a:endParaRPr lang="en-US" sz="650" dirty="0"/>
          </a:p>
        </p:txBody>
      </p:sp>
      <p:sp>
        <p:nvSpPr>
          <p:cNvPr id="181" name="Shape 179"/>
          <p:cNvSpPr/>
          <p:nvPr/>
        </p:nvSpPr>
        <p:spPr>
          <a:xfrm>
            <a:off x="2907792" y="4219956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2907792" y="4219956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0.15</a:t>
            </a:r>
            <a:endParaRPr lang="en-US" sz="650" dirty="0"/>
          </a:p>
        </p:txBody>
      </p:sp>
      <p:sp>
        <p:nvSpPr>
          <p:cNvPr id="183" name="Shape 181"/>
          <p:cNvSpPr/>
          <p:nvPr/>
        </p:nvSpPr>
        <p:spPr>
          <a:xfrm>
            <a:off x="3456432" y="4219956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3456432" y="4219956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0.06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4005072" y="4219956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4005072" y="4219956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0.14</a:t>
            </a:r>
            <a:endParaRPr lang="en-US" sz="650" dirty="0"/>
          </a:p>
        </p:txBody>
      </p:sp>
      <p:sp>
        <p:nvSpPr>
          <p:cNvPr id="187" name="Shape 185"/>
          <p:cNvSpPr/>
          <p:nvPr/>
        </p:nvSpPr>
        <p:spPr>
          <a:xfrm>
            <a:off x="164592" y="4325112"/>
            <a:ext cx="530352" cy="10515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64592" y="4325112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GFI</a:t>
            </a:r>
            <a:endParaRPr lang="en-US" sz="650" dirty="0"/>
          </a:p>
        </p:txBody>
      </p:sp>
      <p:sp>
        <p:nvSpPr>
          <p:cNvPr id="189" name="Shape 187"/>
          <p:cNvSpPr/>
          <p:nvPr/>
        </p:nvSpPr>
        <p:spPr>
          <a:xfrm>
            <a:off x="713232" y="4325112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713232" y="4325112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0.00</a:t>
            </a:r>
            <a:endParaRPr lang="en-US" sz="650" dirty="0"/>
          </a:p>
        </p:txBody>
      </p:sp>
      <p:sp>
        <p:nvSpPr>
          <p:cNvPr id="191" name="Shape 189"/>
          <p:cNvSpPr/>
          <p:nvPr/>
        </p:nvSpPr>
        <p:spPr>
          <a:xfrm>
            <a:off x="1261872" y="4325112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1261872" y="4325112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0.11</a:t>
            </a:r>
            <a:endParaRPr lang="en-US" sz="650" dirty="0"/>
          </a:p>
        </p:txBody>
      </p:sp>
      <p:sp>
        <p:nvSpPr>
          <p:cNvPr id="193" name="Shape 191"/>
          <p:cNvSpPr/>
          <p:nvPr/>
        </p:nvSpPr>
        <p:spPr>
          <a:xfrm>
            <a:off x="1810512" y="4325112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1810512" y="4325112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0.10</a:t>
            </a:r>
            <a:endParaRPr lang="en-US" sz="650" dirty="0"/>
          </a:p>
        </p:txBody>
      </p:sp>
      <p:sp>
        <p:nvSpPr>
          <p:cNvPr id="195" name="Shape 193"/>
          <p:cNvSpPr/>
          <p:nvPr/>
        </p:nvSpPr>
        <p:spPr>
          <a:xfrm>
            <a:off x="2359152" y="4325112"/>
            <a:ext cx="530352" cy="105156"/>
          </a:xfrm>
          <a:prstGeom prst="rect">
            <a:avLst/>
          </a:prstGeom>
          <a:solidFill>
            <a:srgbClr val="4A4A4A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2359152" y="4325112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1.00</a:t>
            </a:r>
            <a:endParaRPr lang="en-US" sz="650" dirty="0"/>
          </a:p>
        </p:txBody>
      </p:sp>
      <p:sp>
        <p:nvSpPr>
          <p:cNvPr id="197" name="Shape 195"/>
          <p:cNvSpPr/>
          <p:nvPr/>
        </p:nvSpPr>
        <p:spPr>
          <a:xfrm>
            <a:off x="2907792" y="4325112"/>
            <a:ext cx="530352" cy="105156"/>
          </a:xfrm>
          <a:prstGeom prst="rect">
            <a:avLst/>
          </a:prstGeom>
          <a:solidFill>
            <a:srgbClr val="FFF4E0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2907792" y="4325112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65100"/>
                </a:solidFill>
              </a:rPr>
              <a:t>0.30</a:t>
            </a:r>
            <a:endParaRPr lang="en-US" sz="650" dirty="0"/>
          </a:p>
        </p:txBody>
      </p:sp>
      <p:sp>
        <p:nvSpPr>
          <p:cNvPr id="199" name="Shape 197"/>
          <p:cNvSpPr/>
          <p:nvPr/>
        </p:nvSpPr>
        <p:spPr>
          <a:xfrm>
            <a:off x="3456432" y="4325112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3456432" y="4325112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0.01</a:t>
            </a:r>
            <a:endParaRPr lang="en-US" sz="650" dirty="0"/>
          </a:p>
        </p:txBody>
      </p:sp>
      <p:sp>
        <p:nvSpPr>
          <p:cNvPr id="201" name="Shape 199"/>
          <p:cNvSpPr/>
          <p:nvPr/>
        </p:nvSpPr>
        <p:spPr>
          <a:xfrm>
            <a:off x="4005072" y="4325112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4005072" y="4325112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0.26</a:t>
            </a:r>
            <a:endParaRPr lang="en-US" sz="650" dirty="0"/>
          </a:p>
        </p:txBody>
      </p:sp>
      <p:sp>
        <p:nvSpPr>
          <p:cNvPr id="203" name="Shape 201"/>
          <p:cNvSpPr/>
          <p:nvPr/>
        </p:nvSpPr>
        <p:spPr>
          <a:xfrm>
            <a:off x="164592" y="4430268"/>
            <a:ext cx="530352" cy="10515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164592" y="4430268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REIT</a:t>
            </a:r>
            <a:endParaRPr lang="en-US" sz="650" dirty="0"/>
          </a:p>
        </p:txBody>
      </p:sp>
      <p:sp>
        <p:nvSpPr>
          <p:cNvPr id="205" name="Shape 203"/>
          <p:cNvSpPr/>
          <p:nvPr/>
        </p:nvSpPr>
        <p:spPr>
          <a:xfrm>
            <a:off x="713232" y="4430268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713232" y="4430268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0.00</a:t>
            </a:r>
            <a:endParaRPr lang="en-US" sz="650" dirty="0"/>
          </a:p>
        </p:txBody>
      </p:sp>
      <p:sp>
        <p:nvSpPr>
          <p:cNvPr id="207" name="Shape 205"/>
          <p:cNvSpPr/>
          <p:nvPr/>
        </p:nvSpPr>
        <p:spPr>
          <a:xfrm>
            <a:off x="1261872" y="4430268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1261872" y="4430268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0.17</a:t>
            </a:r>
            <a:endParaRPr lang="en-US" sz="650" dirty="0"/>
          </a:p>
        </p:txBody>
      </p:sp>
      <p:sp>
        <p:nvSpPr>
          <p:cNvPr id="209" name="Shape 207"/>
          <p:cNvSpPr/>
          <p:nvPr/>
        </p:nvSpPr>
        <p:spPr>
          <a:xfrm>
            <a:off x="1810512" y="4430268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1810512" y="4430268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0.15</a:t>
            </a:r>
            <a:endParaRPr lang="en-US" sz="650" dirty="0"/>
          </a:p>
        </p:txBody>
      </p:sp>
      <p:sp>
        <p:nvSpPr>
          <p:cNvPr id="211" name="Shape 209"/>
          <p:cNvSpPr/>
          <p:nvPr/>
        </p:nvSpPr>
        <p:spPr>
          <a:xfrm>
            <a:off x="2359152" y="4430268"/>
            <a:ext cx="530352" cy="105156"/>
          </a:xfrm>
          <a:prstGeom prst="rect">
            <a:avLst/>
          </a:prstGeom>
          <a:solidFill>
            <a:srgbClr val="FFF4E0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2359152" y="4430268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65100"/>
                </a:solidFill>
              </a:rPr>
              <a:t>0.30</a:t>
            </a:r>
            <a:endParaRPr lang="en-US" sz="650" dirty="0"/>
          </a:p>
        </p:txBody>
      </p:sp>
      <p:sp>
        <p:nvSpPr>
          <p:cNvPr id="213" name="Shape 211"/>
          <p:cNvSpPr/>
          <p:nvPr/>
        </p:nvSpPr>
        <p:spPr>
          <a:xfrm>
            <a:off x="2907792" y="4430268"/>
            <a:ext cx="530352" cy="105156"/>
          </a:xfrm>
          <a:prstGeom prst="rect">
            <a:avLst/>
          </a:prstGeom>
          <a:solidFill>
            <a:srgbClr val="4A4A4A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2907792" y="4430268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1.00</a:t>
            </a:r>
            <a:endParaRPr lang="en-US" sz="650" dirty="0"/>
          </a:p>
        </p:txBody>
      </p:sp>
      <p:sp>
        <p:nvSpPr>
          <p:cNvPr id="215" name="Shape 213"/>
          <p:cNvSpPr/>
          <p:nvPr/>
        </p:nvSpPr>
        <p:spPr>
          <a:xfrm>
            <a:off x="3456432" y="4430268"/>
            <a:ext cx="530352" cy="105156"/>
          </a:xfrm>
          <a:prstGeom prst="rect">
            <a:avLst/>
          </a:prstGeom>
          <a:solidFill>
            <a:srgbClr val="FFE8E8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3456432" y="4430268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</a:rPr>
              <a:t>0.64</a:t>
            </a:r>
            <a:endParaRPr lang="en-US" sz="650" dirty="0"/>
          </a:p>
        </p:txBody>
      </p:sp>
      <p:sp>
        <p:nvSpPr>
          <p:cNvPr id="217" name="Shape 215"/>
          <p:cNvSpPr/>
          <p:nvPr/>
        </p:nvSpPr>
        <p:spPr>
          <a:xfrm>
            <a:off x="4005072" y="4430268"/>
            <a:ext cx="530352" cy="105156"/>
          </a:xfrm>
          <a:prstGeom prst="rect">
            <a:avLst/>
          </a:prstGeom>
          <a:solidFill>
            <a:srgbClr val="FFF4E0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4005072" y="4430268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65100"/>
                </a:solidFill>
              </a:rPr>
              <a:t>0.44</a:t>
            </a:r>
            <a:endParaRPr lang="en-US" sz="650" dirty="0"/>
          </a:p>
        </p:txBody>
      </p:sp>
      <p:sp>
        <p:nvSpPr>
          <p:cNvPr id="219" name="Shape 217"/>
          <p:cNvSpPr/>
          <p:nvPr/>
        </p:nvSpPr>
        <p:spPr>
          <a:xfrm>
            <a:off x="164592" y="4535424"/>
            <a:ext cx="530352" cy="10515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164592" y="453542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LEq</a:t>
            </a:r>
            <a:endParaRPr lang="en-US" sz="650" dirty="0"/>
          </a:p>
        </p:txBody>
      </p:sp>
      <p:sp>
        <p:nvSpPr>
          <p:cNvPr id="221" name="Shape 219"/>
          <p:cNvSpPr/>
          <p:nvPr/>
        </p:nvSpPr>
        <p:spPr>
          <a:xfrm>
            <a:off x="713232" y="4535424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713232" y="453542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0.00</a:t>
            </a:r>
            <a:endParaRPr lang="en-US" sz="650" dirty="0"/>
          </a:p>
        </p:txBody>
      </p:sp>
      <p:sp>
        <p:nvSpPr>
          <p:cNvPr id="223" name="Shape 221"/>
          <p:cNvSpPr/>
          <p:nvPr/>
        </p:nvSpPr>
        <p:spPr>
          <a:xfrm>
            <a:off x="1261872" y="4535424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1261872" y="453542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0.02</a:t>
            </a:r>
            <a:endParaRPr lang="en-US" sz="650" dirty="0"/>
          </a:p>
        </p:txBody>
      </p:sp>
      <p:sp>
        <p:nvSpPr>
          <p:cNvPr id="225" name="Shape 223"/>
          <p:cNvSpPr/>
          <p:nvPr/>
        </p:nvSpPr>
        <p:spPr>
          <a:xfrm>
            <a:off x="1810512" y="4535424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810512" y="453542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0.06</a:t>
            </a:r>
            <a:endParaRPr lang="en-US" sz="650" dirty="0"/>
          </a:p>
        </p:txBody>
      </p:sp>
      <p:sp>
        <p:nvSpPr>
          <p:cNvPr id="227" name="Shape 225"/>
          <p:cNvSpPr/>
          <p:nvPr/>
        </p:nvSpPr>
        <p:spPr>
          <a:xfrm>
            <a:off x="2359152" y="4535424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2359152" y="453542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0.01</a:t>
            </a:r>
            <a:endParaRPr lang="en-US" sz="650" dirty="0"/>
          </a:p>
        </p:txBody>
      </p:sp>
      <p:sp>
        <p:nvSpPr>
          <p:cNvPr id="229" name="Shape 227"/>
          <p:cNvSpPr/>
          <p:nvPr/>
        </p:nvSpPr>
        <p:spPr>
          <a:xfrm>
            <a:off x="2907792" y="4535424"/>
            <a:ext cx="530352" cy="105156"/>
          </a:xfrm>
          <a:prstGeom prst="rect">
            <a:avLst/>
          </a:prstGeom>
          <a:solidFill>
            <a:srgbClr val="FFE8E8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2907792" y="453542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</a:rPr>
              <a:t>0.64</a:t>
            </a:r>
            <a:endParaRPr lang="en-US" sz="650" dirty="0"/>
          </a:p>
        </p:txBody>
      </p:sp>
      <p:sp>
        <p:nvSpPr>
          <p:cNvPr id="231" name="Shape 229"/>
          <p:cNvSpPr/>
          <p:nvPr/>
        </p:nvSpPr>
        <p:spPr>
          <a:xfrm>
            <a:off x="3456432" y="4535424"/>
            <a:ext cx="530352" cy="105156"/>
          </a:xfrm>
          <a:prstGeom prst="rect">
            <a:avLst/>
          </a:prstGeom>
          <a:solidFill>
            <a:srgbClr val="4A4A4A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3456432" y="453542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1.00</a:t>
            </a:r>
            <a:endParaRPr lang="en-US" sz="650" dirty="0"/>
          </a:p>
        </p:txBody>
      </p:sp>
      <p:sp>
        <p:nvSpPr>
          <p:cNvPr id="233" name="Shape 231"/>
          <p:cNvSpPr/>
          <p:nvPr/>
        </p:nvSpPr>
        <p:spPr>
          <a:xfrm>
            <a:off x="4005072" y="4535424"/>
            <a:ext cx="530352" cy="105156"/>
          </a:xfrm>
          <a:prstGeom prst="rect">
            <a:avLst/>
          </a:prstGeom>
          <a:solidFill>
            <a:srgbClr val="FFF4E0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4005072" y="4535424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65100"/>
                </a:solidFill>
              </a:rPr>
              <a:t>0.45</a:t>
            </a:r>
            <a:endParaRPr lang="en-US" sz="650" dirty="0"/>
          </a:p>
        </p:txBody>
      </p:sp>
      <p:sp>
        <p:nvSpPr>
          <p:cNvPr id="235" name="Shape 233"/>
          <p:cNvSpPr/>
          <p:nvPr/>
        </p:nvSpPr>
        <p:spPr>
          <a:xfrm>
            <a:off x="164592" y="4640580"/>
            <a:ext cx="530352" cy="10515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64592" y="464058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GEq</a:t>
            </a:r>
            <a:endParaRPr lang="en-US" sz="650" dirty="0"/>
          </a:p>
        </p:txBody>
      </p:sp>
      <p:sp>
        <p:nvSpPr>
          <p:cNvPr id="237" name="Shape 235"/>
          <p:cNvSpPr/>
          <p:nvPr/>
        </p:nvSpPr>
        <p:spPr>
          <a:xfrm>
            <a:off x="713232" y="4640580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713232" y="464058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0.00</a:t>
            </a:r>
            <a:endParaRPr lang="en-US" sz="650" dirty="0"/>
          </a:p>
        </p:txBody>
      </p:sp>
      <p:sp>
        <p:nvSpPr>
          <p:cNvPr id="239" name="Shape 237"/>
          <p:cNvSpPr/>
          <p:nvPr/>
        </p:nvSpPr>
        <p:spPr>
          <a:xfrm>
            <a:off x="1261872" y="4640580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1261872" y="464058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0.09</a:t>
            </a:r>
            <a:endParaRPr lang="en-US" sz="650" dirty="0"/>
          </a:p>
        </p:txBody>
      </p:sp>
      <p:sp>
        <p:nvSpPr>
          <p:cNvPr id="241" name="Shape 239"/>
          <p:cNvSpPr/>
          <p:nvPr/>
        </p:nvSpPr>
        <p:spPr>
          <a:xfrm>
            <a:off x="1810512" y="4640580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1810512" y="464058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0.14</a:t>
            </a:r>
            <a:endParaRPr lang="en-US" sz="650" dirty="0"/>
          </a:p>
        </p:txBody>
      </p:sp>
      <p:sp>
        <p:nvSpPr>
          <p:cNvPr id="243" name="Shape 241"/>
          <p:cNvSpPr/>
          <p:nvPr/>
        </p:nvSpPr>
        <p:spPr>
          <a:xfrm>
            <a:off x="2359152" y="4640580"/>
            <a:ext cx="530352" cy="105156"/>
          </a:xfrm>
          <a:prstGeom prst="rect">
            <a:avLst/>
          </a:prstGeom>
          <a:solidFill>
            <a:srgbClr val="FFFFFF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2359152" y="464058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11111"/>
                </a:solidFill>
              </a:rPr>
              <a:t>0.26</a:t>
            </a:r>
            <a:endParaRPr lang="en-US" sz="650" dirty="0"/>
          </a:p>
        </p:txBody>
      </p:sp>
      <p:sp>
        <p:nvSpPr>
          <p:cNvPr id="245" name="Shape 243"/>
          <p:cNvSpPr/>
          <p:nvPr/>
        </p:nvSpPr>
        <p:spPr>
          <a:xfrm>
            <a:off x="2907792" y="4640580"/>
            <a:ext cx="530352" cy="105156"/>
          </a:xfrm>
          <a:prstGeom prst="rect">
            <a:avLst/>
          </a:prstGeom>
          <a:solidFill>
            <a:srgbClr val="FFF4E0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2907792" y="464058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65100"/>
                </a:solidFill>
              </a:rPr>
              <a:t>0.44</a:t>
            </a:r>
            <a:endParaRPr lang="en-US" sz="650" dirty="0"/>
          </a:p>
        </p:txBody>
      </p:sp>
      <p:sp>
        <p:nvSpPr>
          <p:cNvPr id="247" name="Shape 245"/>
          <p:cNvSpPr/>
          <p:nvPr/>
        </p:nvSpPr>
        <p:spPr>
          <a:xfrm>
            <a:off x="3456432" y="4640580"/>
            <a:ext cx="530352" cy="105156"/>
          </a:xfrm>
          <a:prstGeom prst="rect">
            <a:avLst/>
          </a:prstGeom>
          <a:solidFill>
            <a:srgbClr val="FFF4E0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3456432" y="464058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65100"/>
                </a:solidFill>
              </a:rPr>
              <a:t>0.45</a:t>
            </a:r>
            <a:endParaRPr lang="en-US" sz="650" dirty="0"/>
          </a:p>
        </p:txBody>
      </p:sp>
      <p:sp>
        <p:nvSpPr>
          <p:cNvPr id="249" name="Shape 247"/>
          <p:cNvSpPr/>
          <p:nvPr/>
        </p:nvSpPr>
        <p:spPr>
          <a:xfrm>
            <a:off x="4005072" y="4640580"/>
            <a:ext cx="530352" cy="105156"/>
          </a:xfrm>
          <a:prstGeom prst="rect">
            <a:avLst/>
          </a:prstGeom>
          <a:solidFill>
            <a:srgbClr val="4A4A4A"/>
          </a:solidFill>
          <a:ln w="2540">
            <a:solidFill>
              <a:srgbClr val="EEEEEE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4005072" y="4640580"/>
            <a:ext cx="53035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1.00</a:t>
            </a:r>
            <a:endParaRPr lang="en-US" sz="650" dirty="0"/>
          </a:p>
        </p:txBody>
      </p:sp>
      <p:sp>
        <p:nvSpPr>
          <p:cNvPr id="251" name="Text 249"/>
          <p:cNvSpPr/>
          <p:nvPr/>
        </p:nvSpPr>
        <p:spPr>
          <a:xfrm>
            <a:off x="4572000" y="80467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4A"/>
                </a:solidFill>
              </a:rPr>
              <a:t>VaR &amp; CAR Methodology</a:t>
            </a:r>
            <a:endParaRPr lang="en-US" sz="1000" dirty="0"/>
          </a:p>
        </p:txBody>
      </p:sp>
      <p:sp>
        <p:nvSpPr>
          <p:cNvPr id="252" name="Shape 250"/>
          <p:cNvSpPr/>
          <p:nvPr/>
        </p:nvSpPr>
        <p:spPr>
          <a:xfrm>
            <a:off x="4572000" y="1042416"/>
            <a:ext cx="43891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4572000" y="1042416"/>
            <a:ext cx="45720" cy="6217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4663440" y="1078992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Portfolio VaR (1-month)</a:t>
            </a:r>
            <a:endParaRPr lang="en-US" sz="850" dirty="0"/>
          </a:p>
        </p:txBody>
      </p:sp>
      <p:sp>
        <p:nvSpPr>
          <p:cNvPr id="255" name="Text 253"/>
          <p:cNvSpPr/>
          <p:nvPr/>
        </p:nvSpPr>
        <p:spPr>
          <a:xfrm>
            <a:off x="4663440" y="1261872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Z(2.576) × √(w'Σw) × √20 × AUM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Correlated via GSAM correlation matrix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Diversification benefit ≈ 30-34% of standalone sum</a:t>
            </a:r>
            <a:endParaRPr lang="en-US" sz="750" dirty="0"/>
          </a:p>
        </p:txBody>
      </p:sp>
      <p:sp>
        <p:nvSpPr>
          <p:cNvPr id="256" name="Shape 254"/>
          <p:cNvSpPr/>
          <p:nvPr/>
        </p:nvSpPr>
        <p:spPr>
          <a:xfrm>
            <a:off x="4572000" y="1677924"/>
            <a:ext cx="4389120" cy="621792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4572000" y="1677924"/>
            <a:ext cx="45720" cy="6217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4663440" y="1714500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P&amp;L VaR (1-month, standalone)</a:t>
            </a:r>
            <a:endParaRPr lang="en-US" sz="850" dirty="0"/>
          </a:p>
        </p:txBody>
      </p:sp>
      <p:sp>
        <p:nvSpPr>
          <p:cNvPr id="259" name="Text 257"/>
          <p:cNvSpPr/>
          <p:nvPr/>
        </p:nvSpPr>
        <p:spPr>
          <a:xfrm>
            <a:off x="4663440" y="1897380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Σ Z × (SD_i/√252) × √20 × w_i × AUM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FVPL assets: GlobalFI, LocalREIT, LocalEq, GlobalEq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No correlation benefit (conservative)</a:t>
            </a:r>
            <a:endParaRPr lang="en-US" sz="750" dirty="0"/>
          </a:p>
        </p:txBody>
      </p:sp>
      <p:sp>
        <p:nvSpPr>
          <p:cNvPr id="260" name="Shape 258"/>
          <p:cNvSpPr/>
          <p:nvPr/>
        </p:nvSpPr>
        <p:spPr>
          <a:xfrm>
            <a:off x="4572000" y="2313432"/>
            <a:ext cx="43891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4572000" y="2313432"/>
            <a:ext cx="45720" cy="6217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4663440" y="2350008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OCI VaR — SD-based (primary)</a:t>
            </a:r>
            <a:endParaRPr lang="en-US" sz="850" dirty="0"/>
          </a:p>
        </p:txBody>
      </p:sp>
      <p:sp>
        <p:nvSpPr>
          <p:cNvPr id="263" name="Text 261"/>
          <p:cNvSpPr/>
          <p:nvPr/>
        </p:nvSpPr>
        <p:spPr>
          <a:xfrm>
            <a:off x="4663440" y="2532888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Σ Z × (SD_i/√252) × √20 × w_i × AUM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FVOCI assets: Gov Bonds + Corp Bonds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SD-based (incl. credit spread moves)</a:t>
            </a:r>
            <a:endParaRPr lang="en-US" sz="750" dirty="0"/>
          </a:p>
        </p:txBody>
      </p:sp>
      <p:sp>
        <p:nvSpPr>
          <p:cNvPr id="264" name="Shape 262"/>
          <p:cNvSpPr/>
          <p:nvPr/>
        </p:nvSpPr>
        <p:spPr>
          <a:xfrm>
            <a:off x="4572000" y="2948940"/>
            <a:ext cx="4389120" cy="621792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4572000" y="2948940"/>
            <a:ext cx="45720" cy="6217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4663440" y="2985516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OCI VaR — DV01 (reference only)</a:t>
            </a:r>
            <a:endParaRPr lang="en-US" sz="850" dirty="0"/>
          </a:p>
        </p:txBody>
      </p:sp>
      <p:sp>
        <p:nvSpPr>
          <p:cNvPr id="267" name="Text 265"/>
          <p:cNvSpPr/>
          <p:nvPr/>
        </p:nvSpPr>
        <p:spPr>
          <a:xfrm>
            <a:off x="4663440" y="3168396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Σ Duration × Z × (YieldVol/√252) × √10 × w_i × AUM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Gov: 4yr, 45bps | Corp: 2yr, 40bps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Pure interest rate risk, 10-day horizon</a:t>
            </a:r>
            <a:endParaRPr lang="en-US" sz="750" dirty="0"/>
          </a:p>
        </p:txBody>
      </p:sp>
      <p:sp>
        <p:nvSpPr>
          <p:cNvPr id="268" name="Shape 266"/>
          <p:cNvSpPr/>
          <p:nvPr/>
        </p:nvSpPr>
        <p:spPr>
          <a:xfrm>
            <a:off x="4572000" y="3584448"/>
            <a:ext cx="43891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4572000" y="3584448"/>
            <a:ext cx="45720" cy="6217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4663440" y="3621024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ΔTCR (per-asset standalone)</a:t>
            </a:r>
            <a:endParaRPr lang="en-US" sz="850" dirty="0"/>
          </a:p>
        </p:txBody>
      </p:sp>
      <p:sp>
        <p:nvSpPr>
          <p:cNvPr id="271" name="Text 269"/>
          <p:cNvSpPr/>
          <p:nvPr/>
        </p:nvSpPr>
        <p:spPr>
          <a:xfrm>
            <a:off x="4663440" y="380390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Σ(VaR_standalone_i × RBC_i) per asset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No diversification in TCR — OIC regulation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Conservative: standalone not correlated VaR</a:t>
            </a:r>
            <a:endParaRPr lang="en-US" sz="750" dirty="0"/>
          </a:p>
        </p:txBody>
      </p:sp>
      <p:sp>
        <p:nvSpPr>
          <p:cNvPr id="272" name="Shape 270"/>
          <p:cNvSpPr/>
          <p:nvPr/>
        </p:nvSpPr>
        <p:spPr>
          <a:xfrm>
            <a:off x="4572000" y="4219956"/>
            <a:ext cx="4389120" cy="621792"/>
          </a:xfrm>
          <a:prstGeom prst="rect">
            <a:avLst/>
          </a:prstGeom>
          <a:solidFill>
            <a:srgbClr val="F2F2F2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4572000" y="4219956"/>
            <a:ext cx="45720" cy="6217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4663440" y="4256532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CAR Stress</a:t>
            </a:r>
            <a:endParaRPr lang="en-US" sz="850" dirty="0"/>
          </a:p>
        </p:txBody>
      </p:sp>
      <p:sp>
        <p:nvSpPr>
          <p:cNvPr id="275" name="Text 273"/>
          <p:cNvSpPr/>
          <p:nvPr/>
        </p:nvSpPr>
        <p:spPr>
          <a:xfrm>
            <a:off x="4663440" y="4439412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TCA Stressed = TCA − (P&amp;L VaR + OCI VaR SD)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TCR Stressed = TCR Base − ΔTCR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</a:rPr>
              <a:t>CAR Stressed = TCA Stressed ÷ TCR Stressed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2026-04-08T21:52:07Z</dcterms:created>
  <dcterms:modified xsi:type="dcterms:W3CDTF">2026-04-08T21:52:07Z</dcterms:modified>
</cp:coreProperties>
</file>