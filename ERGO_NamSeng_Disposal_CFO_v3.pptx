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38404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Briefing — Real Estate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24160" y="731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ERGO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0" y="594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Munich Re company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2064" y="13258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E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Namsing Building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BE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Disposal — Scenario Analysis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12064" y="3566160"/>
            <a:ext cx="11155680" cy="0"/>
          </a:xfrm>
          <a:prstGeom prst="line">
            <a:avLst/>
          </a:prstGeom>
          <a:noFill/>
          <a:ln w="10160">
            <a:solidFill>
              <a:srgbClr val="D5D5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Book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฿618M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" y="4389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at YE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3984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Disposal Scenarios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43984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price points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43984" y="4389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฿300M – ฿665M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75904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75904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Q2/26 – 2031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5904" y="4389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disposal periods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64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· Real Estate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12064" y="40233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Overview &amp; Key Assumptions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424160" y="1645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E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" y="1097280"/>
            <a:ext cx="11155680" cy="566928"/>
          </a:xfrm>
          <a:prstGeom prst="rect">
            <a:avLst/>
          </a:prstGeom>
          <a:solidFill>
            <a:srgbClr val="E8F4FD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097280"/>
            <a:ext cx="54864" cy="56692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097280"/>
            <a:ext cx="11018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Namsing Building (767 Krung Thep-Nonthaburi Rd, Bang Sue) was acquired via the merger with Namsing Insurance. Management is exploring disposal options. This analysis covers 6 selling price scenarios across 7 disposal periods, under IFRS (P&amp;L basis) and TFRS (CAR/regulatory basis).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" y="1828800"/>
            <a:ext cx="5486400" cy="2377440"/>
          </a:xfrm>
          <a:prstGeom prst="rect">
            <a:avLst/>
          </a:prstGeom>
          <a:solidFill>
            <a:srgbClr val="F4F4F4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1920240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1956816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Book Value (YE2025)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94176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฿618.1M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" y="2157984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for P&amp;L gain / loss calculation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" y="2359152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395728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TFRS Book Value (YE2025)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94176" y="239572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฿594.6M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" y="2596896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for CAR / TCA calculation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9224" y="2798064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834640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Depreciation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94176" y="283464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฿5.29M/yr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" y="3035808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~50yr useful life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" y="3236976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273552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TFRS Depreciation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94176" y="327355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฿12.03M/yr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" y="347472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~21.6yr useful life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9224" y="3675888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3712464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Fee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94176" y="3712464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× appraisal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" y="3913632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+ building (net of 2%/yr dep.)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1828800"/>
            <a:ext cx="5486400" cy="1920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1920240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956816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Business Tax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582912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2157984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selling price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537960" y="2359152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2395728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582912" y="2395728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37960" y="2596896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selling price — adjustable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37960" y="2798064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834640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CAR (baseline)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82912" y="283464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211.4%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37960" y="3035808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TCA ฿2,091M / TCR ฿989M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37960" y="3236976"/>
            <a:ext cx="521208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273552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TCR (post-disposal)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582912" y="3273552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฿932.5M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37960" y="347472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Excludes Diversification Benefit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12064" y="43434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formula: </a:t>
            </a:r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Sales = Selling price − Transfer fee − SBT (3.3%) − Commission (3%)   |   P&amp;L = Net Sales − IFRS BV   |   New TCA = TCA + (Net Sales − TFRS BV)   |   CAR = New TCA / New TCR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12064" y="4709160"/>
            <a:ext cx="1115568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" y="4709160"/>
            <a:ext cx="54864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603504" y="4709160"/>
            <a:ext cx="11018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New TCR reduction (฿56.48M) excludes Diversification Benefit — actual CAR improvement will be less than shown. From 2028: OIC requires property revaluation every 3 years — TCR may change. Figures for 2028+ are indicative only.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64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· Real Estate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12064" y="40233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Impact by Scenario &amp; Disposal Period (฿M, IFRS basis)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424160" y="1645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E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" y="1097280"/>
            <a:ext cx="12801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92224" y="1097280"/>
            <a:ext cx="1392501" cy="50292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792224" y="1097280"/>
            <a:ext cx="13925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Q2/2026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3013" y="1097280"/>
            <a:ext cx="1392501" cy="50292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3013" y="1097280"/>
            <a:ext cx="13925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3801" y="1097280"/>
            <a:ext cx="1392501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613801" y="1097280"/>
            <a:ext cx="13925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New TF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4590" y="1097280"/>
            <a:ext cx="1392501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24590" y="1097280"/>
            <a:ext cx="13925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Indicative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35378" y="1097280"/>
            <a:ext cx="1392501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35378" y="1097280"/>
            <a:ext cx="13925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Indicative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46167" y="1097280"/>
            <a:ext cx="1392501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846167" y="1097280"/>
            <a:ext cx="13925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Indicative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256955" y="1097280"/>
            <a:ext cx="1392501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56955" y="1097280"/>
            <a:ext cx="13925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Indicative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" y="1600200"/>
            <a:ext cx="1280160" cy="60350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16002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฿665M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+47M vs BV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792224" y="1600200"/>
            <a:ext cx="1392501" cy="6035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Shape 26"/>
          <p:cNvSpPr/>
          <p:nvPr/>
        </p:nvSpPr>
        <p:spPr>
          <a:xfrm>
            <a:off x="1792224" y="16002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92224" y="165506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792224" y="200253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03013" y="1600200"/>
            <a:ext cx="1392501" cy="6035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3013" y="16002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3013" y="165506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3013" y="200253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613801" y="1600200"/>
            <a:ext cx="1392501" cy="6035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6" name="Shape 34"/>
          <p:cNvSpPr/>
          <p:nvPr/>
        </p:nvSpPr>
        <p:spPr>
          <a:xfrm>
            <a:off x="4613801" y="16002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3801" y="165506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13801" y="200253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024590" y="1600200"/>
            <a:ext cx="1392501" cy="6035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0" name="Shape 38"/>
          <p:cNvSpPr/>
          <p:nvPr/>
        </p:nvSpPr>
        <p:spPr>
          <a:xfrm>
            <a:off x="6024590" y="16002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24590" y="165506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+12.6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24590" y="200253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435378" y="1600200"/>
            <a:ext cx="1392501" cy="6035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4" name="Shape 42"/>
          <p:cNvSpPr/>
          <p:nvPr/>
        </p:nvSpPr>
        <p:spPr>
          <a:xfrm>
            <a:off x="7435378" y="16002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5378" y="165506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+17.9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435378" y="200253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846167" y="1600200"/>
            <a:ext cx="1392501" cy="6035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8" name="Shape 46"/>
          <p:cNvSpPr/>
          <p:nvPr/>
        </p:nvSpPr>
        <p:spPr>
          <a:xfrm>
            <a:off x="8846167" y="16002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46167" y="165506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+23.3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846167" y="200253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0256955" y="1600200"/>
            <a:ext cx="1392501" cy="6035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2" name="Shape 50"/>
          <p:cNvSpPr/>
          <p:nvPr/>
        </p:nvSpPr>
        <p:spPr>
          <a:xfrm>
            <a:off x="10256955" y="16002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56955" y="165506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+28.7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256955" y="200253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12064" y="2221992"/>
            <a:ext cx="1280160" cy="603504"/>
          </a:xfrm>
          <a:prstGeom prst="rect">
            <a:avLst/>
          </a:prstGeom>
          <a:solidFill>
            <a:srgbClr val="2B4F9E"/>
          </a:solidFill>
          <a:ln/>
        </p:spPr>
      </p:sp>
      <p:sp>
        <p:nvSpPr>
          <p:cNvPr id="56" name="Text 54"/>
          <p:cNvSpPr/>
          <p:nvPr/>
        </p:nvSpPr>
        <p:spPr>
          <a:xfrm>
            <a:off x="512064" y="22219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฿618M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12064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BV IFRS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792224" y="2221992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9" name="Shape 57"/>
          <p:cNvSpPr/>
          <p:nvPr/>
        </p:nvSpPr>
        <p:spPr>
          <a:xfrm>
            <a:off x="1792224" y="222199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92224" y="2276856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(42.2)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792224" y="2624328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203013" y="2221992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3" name="Shape 61"/>
          <p:cNvSpPr/>
          <p:nvPr/>
        </p:nvSpPr>
        <p:spPr>
          <a:xfrm>
            <a:off x="3203013" y="222199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3013" y="2276856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(39.6)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203013" y="2624328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613801" y="2221992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7" name="Shape 65"/>
          <p:cNvSpPr/>
          <p:nvPr/>
        </p:nvSpPr>
        <p:spPr>
          <a:xfrm>
            <a:off x="4613801" y="222199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13801" y="2276856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(36.9)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4613801" y="2624328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024590" y="2221992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1" name="Shape 69"/>
          <p:cNvSpPr/>
          <p:nvPr/>
        </p:nvSpPr>
        <p:spPr>
          <a:xfrm>
            <a:off x="6024590" y="222199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24590" y="2276856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(31.5)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6024590" y="2624328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435378" y="2221992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5" name="Shape 73"/>
          <p:cNvSpPr/>
          <p:nvPr/>
        </p:nvSpPr>
        <p:spPr>
          <a:xfrm>
            <a:off x="7435378" y="222199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35378" y="2276856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(26.1)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7435378" y="2624328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8846167" y="2221992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9" name="Shape 77"/>
          <p:cNvSpPr/>
          <p:nvPr/>
        </p:nvSpPr>
        <p:spPr>
          <a:xfrm>
            <a:off x="8846167" y="222199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846167" y="2276856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(20.7)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8846167" y="2624328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0256955" y="2221992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256955" y="222199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256955" y="2276856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(15.3)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10256955" y="2624328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12064" y="2843784"/>
            <a:ext cx="1280160" cy="603504"/>
          </a:xfrm>
          <a:prstGeom prst="rect">
            <a:avLst/>
          </a:prstGeom>
          <a:solidFill>
            <a:srgbClr val="4B5998"/>
          </a:solidFill>
          <a:ln/>
        </p:spPr>
      </p:sp>
      <p:sp>
        <p:nvSpPr>
          <p:cNvPr id="87" name="Text 85"/>
          <p:cNvSpPr/>
          <p:nvPr/>
        </p:nvSpPr>
        <p:spPr>
          <a:xfrm>
            <a:off x="512064" y="28437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฿550M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512064" y="3163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−68M vs BV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792224" y="2843784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1792224" y="28437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92224" y="2898648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(106.0)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1792224" y="3246120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203013" y="2843784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3203013" y="28437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03013" y="2898648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(103.3)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3203013" y="3246120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613801" y="2843784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4613801" y="28437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13801" y="2898648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(100.6)</a:t>
            </a:r>
            <a:endParaRPr lang="en-US" sz="1150" dirty="0"/>
          </a:p>
        </p:txBody>
      </p:sp>
      <p:sp>
        <p:nvSpPr>
          <p:cNvPr id="100" name="Text 98"/>
          <p:cNvSpPr/>
          <p:nvPr/>
        </p:nvSpPr>
        <p:spPr>
          <a:xfrm>
            <a:off x="4613801" y="3246120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24590" y="2843784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024590" y="28437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24590" y="2898648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(95.2)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6024590" y="3246120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7435378" y="2843784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435378" y="28437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435378" y="2898648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(89.8)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435378" y="3246120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8846167" y="2843784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846167" y="28437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46167" y="2898648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(84.4)</a:t>
            </a:r>
            <a:endParaRPr lang="en-US" sz="1150" dirty="0"/>
          </a:p>
        </p:txBody>
      </p:sp>
      <p:sp>
        <p:nvSpPr>
          <p:cNvPr id="112" name="Text 110"/>
          <p:cNvSpPr/>
          <p:nvPr/>
        </p:nvSpPr>
        <p:spPr>
          <a:xfrm>
            <a:off x="8846167" y="3246120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10256955" y="2843784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256955" y="28437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256955" y="2898648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(79.1)</a:t>
            </a:r>
            <a:endParaRPr lang="en-US" sz="1150" dirty="0"/>
          </a:p>
        </p:txBody>
      </p:sp>
      <p:sp>
        <p:nvSpPr>
          <p:cNvPr id="116" name="Text 114"/>
          <p:cNvSpPr/>
          <p:nvPr/>
        </p:nvSpPr>
        <p:spPr>
          <a:xfrm>
            <a:off x="10256955" y="3246120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512064" y="3465576"/>
            <a:ext cx="1280160" cy="603504"/>
          </a:xfrm>
          <a:prstGeom prst="rect">
            <a:avLst/>
          </a:prstGeom>
          <a:solidFill>
            <a:srgbClr val="6B6B98"/>
          </a:solidFill>
          <a:ln/>
        </p:spPr>
      </p:sp>
      <p:sp>
        <p:nvSpPr>
          <p:cNvPr id="118" name="Text 116"/>
          <p:cNvSpPr/>
          <p:nvPr/>
        </p:nvSpPr>
        <p:spPr>
          <a:xfrm>
            <a:off x="512064" y="34655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฿450M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512064" y="3785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−168M vs BV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792224" y="3465576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792224" y="346557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792224" y="3520440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(199.7)</a:t>
            </a:r>
            <a:endParaRPr lang="en-US" sz="1150" dirty="0"/>
          </a:p>
        </p:txBody>
      </p:sp>
      <p:sp>
        <p:nvSpPr>
          <p:cNvPr id="123" name="Text 121"/>
          <p:cNvSpPr/>
          <p:nvPr/>
        </p:nvSpPr>
        <p:spPr>
          <a:xfrm>
            <a:off x="1792224" y="3867912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203013" y="3465576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203013" y="346557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203013" y="3520440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(197.0)</a:t>
            </a:r>
            <a:endParaRPr lang="en-US" sz="1150" dirty="0"/>
          </a:p>
        </p:txBody>
      </p:sp>
      <p:sp>
        <p:nvSpPr>
          <p:cNvPr id="127" name="Text 125"/>
          <p:cNvSpPr/>
          <p:nvPr/>
        </p:nvSpPr>
        <p:spPr>
          <a:xfrm>
            <a:off x="3203013" y="3867912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4613801" y="3465576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613801" y="346557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613801" y="3520440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(194.3)</a:t>
            </a:r>
            <a:endParaRPr lang="en-US" sz="1150" dirty="0"/>
          </a:p>
        </p:txBody>
      </p:sp>
      <p:sp>
        <p:nvSpPr>
          <p:cNvPr id="131" name="Text 129"/>
          <p:cNvSpPr/>
          <p:nvPr/>
        </p:nvSpPr>
        <p:spPr>
          <a:xfrm>
            <a:off x="4613801" y="3867912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6024590" y="3465576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024590" y="346557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024590" y="3520440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(188.9)</a:t>
            </a:r>
            <a:endParaRPr lang="en-US" sz="1150" dirty="0"/>
          </a:p>
        </p:txBody>
      </p:sp>
      <p:sp>
        <p:nvSpPr>
          <p:cNvPr id="135" name="Text 133"/>
          <p:cNvSpPr/>
          <p:nvPr/>
        </p:nvSpPr>
        <p:spPr>
          <a:xfrm>
            <a:off x="6024590" y="3867912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7435378" y="3465576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7" name="Shape 135"/>
          <p:cNvSpPr/>
          <p:nvPr/>
        </p:nvSpPr>
        <p:spPr>
          <a:xfrm>
            <a:off x="7435378" y="346557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435378" y="3520440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(183.5)</a:t>
            </a:r>
            <a:endParaRPr lang="en-US" sz="1150" dirty="0"/>
          </a:p>
        </p:txBody>
      </p:sp>
      <p:sp>
        <p:nvSpPr>
          <p:cNvPr id="139" name="Text 137"/>
          <p:cNvSpPr/>
          <p:nvPr/>
        </p:nvSpPr>
        <p:spPr>
          <a:xfrm>
            <a:off x="7435378" y="3867912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8846167" y="3465576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846167" y="346557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846167" y="3520440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(178.1)</a:t>
            </a:r>
            <a:endParaRPr lang="en-US" sz="1150" dirty="0"/>
          </a:p>
        </p:txBody>
      </p:sp>
      <p:sp>
        <p:nvSpPr>
          <p:cNvPr id="143" name="Text 141"/>
          <p:cNvSpPr/>
          <p:nvPr/>
        </p:nvSpPr>
        <p:spPr>
          <a:xfrm>
            <a:off x="8846167" y="3867912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10256955" y="3465576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256955" y="346557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256955" y="3520440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(172.8)</a:t>
            </a:r>
            <a:endParaRPr lang="en-US" sz="1150" dirty="0"/>
          </a:p>
        </p:txBody>
      </p:sp>
      <p:sp>
        <p:nvSpPr>
          <p:cNvPr id="147" name="Text 145"/>
          <p:cNvSpPr/>
          <p:nvPr/>
        </p:nvSpPr>
        <p:spPr>
          <a:xfrm>
            <a:off x="10256955" y="3867912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512064" y="4087368"/>
            <a:ext cx="1280160" cy="603504"/>
          </a:xfrm>
          <a:prstGeom prst="rect">
            <a:avLst/>
          </a:prstGeom>
          <a:solidFill>
            <a:srgbClr val="7B2D2D"/>
          </a:solidFill>
          <a:ln/>
        </p:spPr>
      </p:sp>
      <p:sp>
        <p:nvSpPr>
          <p:cNvPr id="149" name="Text 147"/>
          <p:cNvSpPr/>
          <p:nvPr/>
        </p:nvSpPr>
        <p:spPr>
          <a:xfrm>
            <a:off x="512064" y="4087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฿400M</a:t>
            </a:r>
            <a:endParaRPr lang="en-US" sz="1300" dirty="0"/>
          </a:p>
        </p:txBody>
      </p:sp>
      <p:sp>
        <p:nvSpPr>
          <p:cNvPr id="150" name="Text 148"/>
          <p:cNvSpPr/>
          <p:nvPr/>
        </p:nvSpPr>
        <p:spPr>
          <a:xfrm>
            <a:off x="512064" y="4407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−218M vs BV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1792224" y="4087368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792224" y="408736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792224" y="4142232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(246.5)</a:t>
            </a:r>
            <a:endParaRPr lang="en-US" sz="1150" dirty="0"/>
          </a:p>
        </p:txBody>
      </p:sp>
      <p:sp>
        <p:nvSpPr>
          <p:cNvPr id="154" name="Text 152"/>
          <p:cNvSpPr/>
          <p:nvPr/>
        </p:nvSpPr>
        <p:spPr>
          <a:xfrm>
            <a:off x="1792224" y="4489704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3203013" y="4087368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Shape 154"/>
          <p:cNvSpPr/>
          <p:nvPr/>
        </p:nvSpPr>
        <p:spPr>
          <a:xfrm>
            <a:off x="3203013" y="408736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203013" y="4142232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(243.8)</a:t>
            </a:r>
            <a:endParaRPr lang="en-US" sz="1150" dirty="0"/>
          </a:p>
        </p:txBody>
      </p:sp>
      <p:sp>
        <p:nvSpPr>
          <p:cNvPr id="158" name="Text 156"/>
          <p:cNvSpPr/>
          <p:nvPr/>
        </p:nvSpPr>
        <p:spPr>
          <a:xfrm>
            <a:off x="3203013" y="4489704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4613801" y="4087368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613801" y="408736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613801" y="4142232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(241.1)</a:t>
            </a:r>
            <a:endParaRPr lang="en-US" sz="1150" dirty="0"/>
          </a:p>
        </p:txBody>
      </p:sp>
      <p:sp>
        <p:nvSpPr>
          <p:cNvPr id="162" name="Text 160"/>
          <p:cNvSpPr/>
          <p:nvPr/>
        </p:nvSpPr>
        <p:spPr>
          <a:xfrm>
            <a:off x="4613801" y="4489704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6024590" y="4087368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4" name="Shape 162"/>
          <p:cNvSpPr/>
          <p:nvPr/>
        </p:nvSpPr>
        <p:spPr>
          <a:xfrm>
            <a:off x="6024590" y="408736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024590" y="4142232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(235.8)</a:t>
            </a:r>
            <a:endParaRPr lang="en-US" sz="1150" dirty="0"/>
          </a:p>
        </p:txBody>
      </p:sp>
      <p:sp>
        <p:nvSpPr>
          <p:cNvPr id="166" name="Text 164"/>
          <p:cNvSpPr/>
          <p:nvPr/>
        </p:nvSpPr>
        <p:spPr>
          <a:xfrm>
            <a:off x="6024590" y="4489704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7435378" y="4087368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7435378" y="408736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435378" y="4142232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(230.4)</a:t>
            </a:r>
            <a:endParaRPr lang="en-US" sz="1150" dirty="0"/>
          </a:p>
        </p:txBody>
      </p:sp>
      <p:sp>
        <p:nvSpPr>
          <p:cNvPr id="170" name="Text 168"/>
          <p:cNvSpPr/>
          <p:nvPr/>
        </p:nvSpPr>
        <p:spPr>
          <a:xfrm>
            <a:off x="7435378" y="4489704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8846167" y="4087368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46167" y="408736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846167" y="4142232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(225.0)</a:t>
            </a:r>
            <a:endParaRPr lang="en-US" sz="1150" dirty="0"/>
          </a:p>
        </p:txBody>
      </p:sp>
      <p:sp>
        <p:nvSpPr>
          <p:cNvPr id="174" name="Text 172"/>
          <p:cNvSpPr/>
          <p:nvPr/>
        </p:nvSpPr>
        <p:spPr>
          <a:xfrm>
            <a:off x="8846167" y="4489704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10256955" y="4087368"/>
            <a:ext cx="1392501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256955" y="408736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256955" y="4142232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(219.6)</a:t>
            </a:r>
            <a:endParaRPr lang="en-US" sz="1150" dirty="0"/>
          </a:p>
        </p:txBody>
      </p:sp>
      <p:sp>
        <p:nvSpPr>
          <p:cNvPr id="178" name="Text 176"/>
          <p:cNvSpPr/>
          <p:nvPr/>
        </p:nvSpPr>
        <p:spPr>
          <a:xfrm>
            <a:off x="10256955" y="4489704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512064" y="4709160"/>
            <a:ext cx="1280160" cy="60350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180" name="Text 178"/>
          <p:cNvSpPr/>
          <p:nvPr/>
        </p:nvSpPr>
        <p:spPr>
          <a:xfrm>
            <a:off x="512064" y="47091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฿300M</a:t>
            </a:r>
            <a:endParaRPr lang="en-US" sz="1300" dirty="0"/>
          </a:p>
        </p:txBody>
      </p:sp>
      <p:sp>
        <p:nvSpPr>
          <p:cNvPr id="181" name="Text 179"/>
          <p:cNvSpPr/>
          <p:nvPr/>
        </p:nvSpPr>
        <p:spPr>
          <a:xfrm>
            <a:off x="512064" y="5029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−318M vs BV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1792224" y="4709160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3" name="Shape 181"/>
          <p:cNvSpPr/>
          <p:nvPr/>
        </p:nvSpPr>
        <p:spPr>
          <a:xfrm>
            <a:off x="1792224" y="470916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792224" y="476402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(340.2)</a:t>
            </a:r>
            <a:endParaRPr lang="en-US" sz="1150" dirty="0"/>
          </a:p>
        </p:txBody>
      </p:sp>
      <p:sp>
        <p:nvSpPr>
          <p:cNvPr id="185" name="Text 183"/>
          <p:cNvSpPr/>
          <p:nvPr/>
        </p:nvSpPr>
        <p:spPr>
          <a:xfrm>
            <a:off x="1792224" y="511149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3203013" y="4709160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7" name="Shape 185"/>
          <p:cNvSpPr/>
          <p:nvPr/>
        </p:nvSpPr>
        <p:spPr>
          <a:xfrm>
            <a:off x="3203013" y="470916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203013" y="476402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(337.5)</a:t>
            </a:r>
            <a:endParaRPr lang="en-US" sz="1150" dirty="0"/>
          </a:p>
        </p:txBody>
      </p:sp>
      <p:sp>
        <p:nvSpPr>
          <p:cNvPr id="189" name="Text 187"/>
          <p:cNvSpPr/>
          <p:nvPr/>
        </p:nvSpPr>
        <p:spPr>
          <a:xfrm>
            <a:off x="3203013" y="511149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4613801" y="4709160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1" name="Shape 189"/>
          <p:cNvSpPr/>
          <p:nvPr/>
        </p:nvSpPr>
        <p:spPr>
          <a:xfrm>
            <a:off x="4613801" y="470916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613801" y="476402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(334.8)</a:t>
            </a:r>
            <a:endParaRPr lang="en-US" sz="1150" dirty="0"/>
          </a:p>
        </p:txBody>
      </p:sp>
      <p:sp>
        <p:nvSpPr>
          <p:cNvPr id="193" name="Text 191"/>
          <p:cNvSpPr/>
          <p:nvPr/>
        </p:nvSpPr>
        <p:spPr>
          <a:xfrm>
            <a:off x="4613801" y="511149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6024590" y="4709160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5" name="Shape 193"/>
          <p:cNvSpPr/>
          <p:nvPr/>
        </p:nvSpPr>
        <p:spPr>
          <a:xfrm>
            <a:off x="6024590" y="470916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024590" y="476402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(329.5)</a:t>
            </a:r>
            <a:endParaRPr lang="en-US" sz="1150" dirty="0"/>
          </a:p>
        </p:txBody>
      </p:sp>
      <p:sp>
        <p:nvSpPr>
          <p:cNvPr id="197" name="Text 195"/>
          <p:cNvSpPr/>
          <p:nvPr/>
        </p:nvSpPr>
        <p:spPr>
          <a:xfrm>
            <a:off x="6024590" y="511149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7435378" y="4709160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9" name="Shape 197"/>
          <p:cNvSpPr/>
          <p:nvPr/>
        </p:nvSpPr>
        <p:spPr>
          <a:xfrm>
            <a:off x="7435378" y="470916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7435378" y="476402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(324.1)</a:t>
            </a:r>
            <a:endParaRPr lang="en-US" sz="1150" dirty="0"/>
          </a:p>
        </p:txBody>
      </p:sp>
      <p:sp>
        <p:nvSpPr>
          <p:cNvPr id="201" name="Text 199"/>
          <p:cNvSpPr/>
          <p:nvPr/>
        </p:nvSpPr>
        <p:spPr>
          <a:xfrm>
            <a:off x="7435378" y="511149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8846167" y="4709160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3" name="Shape 201"/>
          <p:cNvSpPr/>
          <p:nvPr/>
        </p:nvSpPr>
        <p:spPr>
          <a:xfrm>
            <a:off x="8846167" y="470916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846167" y="476402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(318.7)</a:t>
            </a:r>
            <a:endParaRPr lang="en-US" sz="1150" dirty="0"/>
          </a:p>
        </p:txBody>
      </p:sp>
      <p:sp>
        <p:nvSpPr>
          <p:cNvPr id="205" name="Text 203"/>
          <p:cNvSpPr/>
          <p:nvPr/>
        </p:nvSpPr>
        <p:spPr>
          <a:xfrm>
            <a:off x="8846167" y="511149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10256955" y="4709160"/>
            <a:ext cx="1392501" cy="60350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0256955" y="470916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0256955" y="4764024"/>
            <a:ext cx="139250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(313.3)</a:t>
            </a:r>
            <a:endParaRPr lang="en-US" sz="1150" dirty="0"/>
          </a:p>
        </p:txBody>
      </p:sp>
      <p:sp>
        <p:nvSpPr>
          <p:cNvPr id="209" name="Text 207"/>
          <p:cNvSpPr/>
          <p:nvPr/>
        </p:nvSpPr>
        <p:spPr>
          <a:xfrm>
            <a:off x="10256955" y="5111496"/>
            <a:ext cx="139250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฿M</a:t>
            </a:r>
            <a:endParaRPr lang="en-US" sz="700" dirty="0"/>
          </a:p>
        </p:txBody>
      </p:sp>
      <p:sp>
        <p:nvSpPr>
          <p:cNvPr id="210" name="Shape 208"/>
          <p:cNvSpPr/>
          <p:nvPr/>
        </p:nvSpPr>
        <p:spPr>
          <a:xfrm>
            <a:off x="512064" y="5330952"/>
            <a:ext cx="11155680" cy="25603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1" name="Text 209"/>
          <p:cNvSpPr/>
          <p:nvPr/>
        </p:nvSpPr>
        <p:spPr>
          <a:xfrm>
            <a:off x="512064" y="5330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BV at disposal (฿M):</a:t>
            </a:r>
            <a:endParaRPr lang="en-US" sz="800" dirty="0"/>
          </a:p>
        </p:txBody>
      </p:sp>
      <p:sp>
        <p:nvSpPr>
          <p:cNvPr id="212" name="Text 210"/>
          <p:cNvSpPr/>
          <p:nvPr/>
        </p:nvSpPr>
        <p:spPr>
          <a:xfrm>
            <a:off x="1792224" y="5330952"/>
            <a:ext cx="13925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615.5</a:t>
            </a:r>
            <a:endParaRPr lang="en-US" sz="800" dirty="0"/>
          </a:p>
        </p:txBody>
      </p:sp>
      <p:sp>
        <p:nvSpPr>
          <p:cNvPr id="213" name="Text 211"/>
          <p:cNvSpPr/>
          <p:nvPr/>
        </p:nvSpPr>
        <p:spPr>
          <a:xfrm>
            <a:off x="3203013" y="5330952"/>
            <a:ext cx="13925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612.8</a:t>
            </a:r>
            <a:endParaRPr lang="en-US" sz="800" dirty="0"/>
          </a:p>
        </p:txBody>
      </p:sp>
      <p:sp>
        <p:nvSpPr>
          <p:cNvPr id="214" name="Text 212"/>
          <p:cNvSpPr/>
          <p:nvPr/>
        </p:nvSpPr>
        <p:spPr>
          <a:xfrm>
            <a:off x="4613801" y="5330952"/>
            <a:ext cx="13925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610.2</a:t>
            </a:r>
            <a:endParaRPr lang="en-US" sz="800" dirty="0"/>
          </a:p>
        </p:txBody>
      </p:sp>
      <p:sp>
        <p:nvSpPr>
          <p:cNvPr id="215" name="Text 213"/>
          <p:cNvSpPr/>
          <p:nvPr/>
        </p:nvSpPr>
        <p:spPr>
          <a:xfrm>
            <a:off x="6024590" y="5330952"/>
            <a:ext cx="13925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604.9</a:t>
            </a:r>
            <a:endParaRPr lang="en-US" sz="800" dirty="0"/>
          </a:p>
        </p:txBody>
      </p:sp>
      <p:sp>
        <p:nvSpPr>
          <p:cNvPr id="216" name="Text 214"/>
          <p:cNvSpPr/>
          <p:nvPr/>
        </p:nvSpPr>
        <p:spPr>
          <a:xfrm>
            <a:off x="7435378" y="5330952"/>
            <a:ext cx="13925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599.6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8846167" y="5330952"/>
            <a:ext cx="13925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594.3</a:t>
            </a:r>
            <a:endParaRPr lang="en-US" sz="800" dirty="0"/>
          </a:p>
        </p:txBody>
      </p:sp>
      <p:sp>
        <p:nvSpPr>
          <p:cNvPr id="218" name="Text 216"/>
          <p:cNvSpPr/>
          <p:nvPr/>
        </p:nvSpPr>
        <p:spPr>
          <a:xfrm>
            <a:off x="10256955" y="5330952"/>
            <a:ext cx="13925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589.0</a:t>
            </a:r>
            <a:endParaRPr lang="en-US" sz="800" dirty="0"/>
          </a:p>
        </p:txBody>
      </p:sp>
      <p:sp>
        <p:nvSpPr>
          <p:cNvPr id="219" name="Shape 217"/>
          <p:cNvSpPr/>
          <p:nvPr/>
        </p:nvSpPr>
        <p:spPr>
          <a:xfrm>
            <a:off x="512064" y="5632704"/>
            <a:ext cx="1115568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12064" y="5632704"/>
            <a:ext cx="54864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1" name="Text 219"/>
          <p:cNvSpPr/>
          <p:nvPr/>
        </p:nvSpPr>
        <p:spPr>
          <a:xfrm>
            <a:off x="603504" y="5632704"/>
            <a:ext cx="11018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base = max(selling price, land appraisal value) — actual tax payable will not be lower than appraisal-based calculation.  ⚠ 2027+: Transfer fee base reflects new official appraisal — update inputs when published.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64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· Real Estate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12064" y="40233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Adequacy Ratio (CAR) Impact — Post Disposal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424160" y="1645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E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baseline: 211.4%  (TCA ฿2,091M ÷ TCR ฿989M)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" y="1353312"/>
            <a:ext cx="11155680" cy="0"/>
          </a:xfrm>
          <a:prstGeom prst="line">
            <a:avLst/>
          </a:prstGeom>
          <a:noFill/>
          <a:ln w="6350">
            <a:solidFill>
              <a:srgbClr val="D5D5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417320"/>
            <a:ext cx="128016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17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92224" y="1417320"/>
            <a:ext cx="1392501" cy="4114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792224" y="1417320"/>
            <a:ext cx="13925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Q2/2026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3013" y="1417320"/>
            <a:ext cx="1392501" cy="4114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3013" y="1417320"/>
            <a:ext cx="13925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3801" y="1417320"/>
            <a:ext cx="1392501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13801" y="1417320"/>
            <a:ext cx="13925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24590" y="1417320"/>
            <a:ext cx="1392501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024590" y="1417320"/>
            <a:ext cx="13925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35378" y="1417320"/>
            <a:ext cx="1392501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35378" y="1417320"/>
            <a:ext cx="13925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46167" y="1417320"/>
            <a:ext cx="1392501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846167" y="1417320"/>
            <a:ext cx="13925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256955" y="1417320"/>
            <a:ext cx="1392501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256955" y="1417320"/>
            <a:ext cx="13925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" y="1828800"/>
            <a:ext cx="1280160" cy="5486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฿665M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92224" y="1828800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792224" y="18288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92224" y="185623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227.3%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92224" y="213055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+15.9%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3013" y="1828800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3013" y="18288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3013" y="185623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228.0%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3013" y="213055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+16.6%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3801" y="1828800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613801" y="18288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3801" y="185623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228.6%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3801" y="213055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+17.2%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24590" y="1828800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024590" y="18288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4590" y="185623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229.9%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24590" y="213055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+18.5%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35378" y="1828800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435378" y="18288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35378" y="185623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230.6%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35378" y="213055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+19.2%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846167" y="1828800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846167" y="18288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46167" y="185623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231.9%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846167" y="213055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+20.5%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256955" y="1828800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56955" y="182880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56955" y="185623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233.2%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256955" y="213055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+21.8%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12064" y="2395728"/>
            <a:ext cx="1280160" cy="548640"/>
          </a:xfrm>
          <a:prstGeom prst="rect">
            <a:avLst/>
          </a:prstGeom>
          <a:solidFill>
            <a:srgbClr val="2B4F9E"/>
          </a:solidFill>
          <a:ln/>
        </p:spPr>
      </p:sp>
      <p:sp>
        <p:nvSpPr>
          <p:cNvPr id="57" name="Text 55"/>
          <p:cNvSpPr/>
          <p:nvPr/>
        </p:nvSpPr>
        <p:spPr>
          <a:xfrm>
            <a:off x="512064" y="23957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฿618M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792224" y="2395728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9" name="Shape 57"/>
          <p:cNvSpPr/>
          <p:nvPr/>
        </p:nvSpPr>
        <p:spPr>
          <a:xfrm>
            <a:off x="1792224" y="239572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92224" y="2423160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222.6%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792224" y="2697480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+11.2%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3013" y="2395728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3" name="Shape 61"/>
          <p:cNvSpPr/>
          <p:nvPr/>
        </p:nvSpPr>
        <p:spPr>
          <a:xfrm>
            <a:off x="3203013" y="239572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3013" y="2423160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223.2%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203013" y="2697480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+11.8%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13801" y="2395728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7" name="Shape 65"/>
          <p:cNvSpPr/>
          <p:nvPr/>
        </p:nvSpPr>
        <p:spPr>
          <a:xfrm>
            <a:off x="4613801" y="239572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13801" y="2423160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223.9%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13801" y="2697480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+12.5%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024590" y="2395728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1" name="Shape 69"/>
          <p:cNvSpPr/>
          <p:nvPr/>
        </p:nvSpPr>
        <p:spPr>
          <a:xfrm>
            <a:off x="6024590" y="239572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24590" y="2423160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225.2%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024590" y="2697480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+13.8%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435378" y="2395728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5" name="Shape 73"/>
          <p:cNvSpPr/>
          <p:nvPr/>
        </p:nvSpPr>
        <p:spPr>
          <a:xfrm>
            <a:off x="7435378" y="239572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35378" y="2423160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225.8%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435378" y="2697480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+14.4%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846167" y="2395728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9" name="Shape 77"/>
          <p:cNvSpPr/>
          <p:nvPr/>
        </p:nvSpPr>
        <p:spPr>
          <a:xfrm>
            <a:off x="8846167" y="239572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846167" y="2423160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227.1%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846167" y="2697480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+15.7%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0256955" y="2395728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256955" y="2395728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256955" y="2423160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228.4%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0256955" y="2697480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+17.0%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12064" y="2962656"/>
            <a:ext cx="1280160" cy="548640"/>
          </a:xfrm>
          <a:prstGeom prst="rect">
            <a:avLst/>
          </a:prstGeom>
          <a:solidFill>
            <a:srgbClr val="4B5998"/>
          </a:solidFill>
          <a:ln/>
        </p:spPr>
      </p:sp>
      <p:sp>
        <p:nvSpPr>
          <p:cNvPr id="87" name="Text 85"/>
          <p:cNvSpPr/>
          <p:nvPr/>
        </p:nvSpPr>
        <p:spPr>
          <a:xfrm>
            <a:off x="512064" y="296265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฿550M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1792224" y="2962656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hape 87"/>
          <p:cNvSpPr/>
          <p:nvPr/>
        </p:nvSpPr>
        <p:spPr>
          <a:xfrm>
            <a:off x="1792224" y="296265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792224" y="2990088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215.8%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792224" y="3264408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+4.4%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203013" y="2962656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3203013" y="296265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3013" y="2990088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216.4%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3203013" y="3264408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+5.0%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613801" y="2962656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4613801" y="296265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13801" y="2990088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217.1%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613801" y="3264408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+5.7%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024590" y="2962656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9"/>
          <p:cNvSpPr/>
          <p:nvPr/>
        </p:nvSpPr>
        <p:spPr>
          <a:xfrm>
            <a:off x="6024590" y="296265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24590" y="2990088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218.4%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024590" y="3264408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+7.0%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435378" y="2962656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435378" y="296265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35378" y="2990088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219.0%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435378" y="3264408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+7.6%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846167" y="2962656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846167" y="296265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846167" y="2990088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220.3%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8846167" y="3264408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+8.9%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0256955" y="2962656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256955" y="2962656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256955" y="2990088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221.6%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10256955" y="3264408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+10.2%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512064" y="3529584"/>
            <a:ext cx="1280160" cy="548640"/>
          </a:xfrm>
          <a:prstGeom prst="rect">
            <a:avLst/>
          </a:prstGeom>
          <a:solidFill>
            <a:srgbClr val="6B6B98"/>
          </a:solidFill>
          <a:ln/>
        </p:spPr>
      </p:sp>
      <p:sp>
        <p:nvSpPr>
          <p:cNvPr id="117" name="Text 115"/>
          <p:cNvSpPr/>
          <p:nvPr/>
        </p:nvSpPr>
        <p:spPr>
          <a:xfrm>
            <a:off x="512064" y="352958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฿450M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1792224" y="3529584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792224" y="35295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792224" y="3557016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205.7%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1792224" y="3831336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-5.7%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3203013" y="3529584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203013" y="35295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203013" y="3557016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206.4%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3203013" y="3831336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-5.0%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4613801" y="3529584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613801" y="35295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613801" y="3557016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207.0%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4613801" y="3831336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-4.4%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6024590" y="3529584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024590" y="35295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024590" y="3557016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208.3%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6024590" y="3831336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-3.1%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7435378" y="3529584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435378" y="35295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435378" y="3557016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209.0%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7435378" y="3831336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-2.4%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8846167" y="3529584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9" name="Shape 137"/>
          <p:cNvSpPr/>
          <p:nvPr/>
        </p:nvSpPr>
        <p:spPr>
          <a:xfrm>
            <a:off x="8846167" y="35295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846167" y="3557016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210.3%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8846167" y="3831336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-1.1%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10256955" y="3529584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0256955" y="3529584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256955" y="3557016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211.6%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10256955" y="3831336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+0.2%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512064" y="4096512"/>
            <a:ext cx="1280160" cy="548640"/>
          </a:xfrm>
          <a:prstGeom prst="rect">
            <a:avLst/>
          </a:prstGeom>
          <a:solidFill>
            <a:srgbClr val="7B2D2D"/>
          </a:solidFill>
          <a:ln/>
        </p:spPr>
      </p:sp>
      <p:sp>
        <p:nvSpPr>
          <p:cNvPr id="147" name="Text 145"/>
          <p:cNvSpPr/>
          <p:nvPr/>
        </p:nvSpPr>
        <p:spPr>
          <a:xfrm>
            <a:off x="512064" y="40965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฿400M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1792224" y="4096512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792224" y="409651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792224" y="4123944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200.7%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1792224" y="4398264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-10.7%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3203013" y="4096512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203013" y="409651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203013" y="4123944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201.3%</a:t>
            </a:r>
            <a:endParaRPr lang="en-US" sz="1100" dirty="0"/>
          </a:p>
        </p:txBody>
      </p:sp>
      <p:sp>
        <p:nvSpPr>
          <p:cNvPr id="155" name="Text 153"/>
          <p:cNvSpPr/>
          <p:nvPr/>
        </p:nvSpPr>
        <p:spPr>
          <a:xfrm>
            <a:off x="3203013" y="4398264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-10.1%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4613801" y="4096512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613801" y="409651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613801" y="4123944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202.0%</a:t>
            </a:r>
            <a:endParaRPr lang="en-US" sz="1100" dirty="0"/>
          </a:p>
        </p:txBody>
      </p:sp>
      <p:sp>
        <p:nvSpPr>
          <p:cNvPr id="159" name="Text 157"/>
          <p:cNvSpPr/>
          <p:nvPr/>
        </p:nvSpPr>
        <p:spPr>
          <a:xfrm>
            <a:off x="4613801" y="4398264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-9.4%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6024590" y="4096512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Shape 159"/>
          <p:cNvSpPr/>
          <p:nvPr/>
        </p:nvSpPr>
        <p:spPr>
          <a:xfrm>
            <a:off x="6024590" y="409651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024590" y="4123944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203.3%</a:t>
            </a:r>
            <a:endParaRPr lang="en-US" sz="1100" dirty="0"/>
          </a:p>
        </p:txBody>
      </p:sp>
      <p:sp>
        <p:nvSpPr>
          <p:cNvPr id="163" name="Text 161"/>
          <p:cNvSpPr/>
          <p:nvPr/>
        </p:nvSpPr>
        <p:spPr>
          <a:xfrm>
            <a:off x="6024590" y="4398264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-8.1%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7435378" y="4096512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5" name="Shape 163"/>
          <p:cNvSpPr/>
          <p:nvPr/>
        </p:nvSpPr>
        <p:spPr>
          <a:xfrm>
            <a:off x="7435378" y="409651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435378" y="4123944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203.9%</a:t>
            </a:r>
            <a:endParaRPr lang="en-US" sz="1100" dirty="0"/>
          </a:p>
        </p:txBody>
      </p:sp>
      <p:sp>
        <p:nvSpPr>
          <p:cNvPr id="167" name="Text 165"/>
          <p:cNvSpPr/>
          <p:nvPr/>
        </p:nvSpPr>
        <p:spPr>
          <a:xfrm>
            <a:off x="7435378" y="4398264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-7.5%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8846167" y="4096512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846167" y="409651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8846167" y="4123944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205.2%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8846167" y="4398264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-6.2%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10256955" y="4096512"/>
            <a:ext cx="1392501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0256955" y="4096512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256955" y="4123944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206.5%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10256955" y="4398264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-4.9%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512064" y="4663440"/>
            <a:ext cx="1280160" cy="54864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177" name="Text 175"/>
          <p:cNvSpPr/>
          <p:nvPr/>
        </p:nvSpPr>
        <p:spPr>
          <a:xfrm>
            <a:off x="512064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฿300M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1792224" y="4663440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9" name="Shape 177"/>
          <p:cNvSpPr/>
          <p:nvPr/>
        </p:nvSpPr>
        <p:spPr>
          <a:xfrm>
            <a:off x="1792224" y="466344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792224" y="469087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190.6%</a:t>
            </a:r>
            <a:endParaRPr lang="en-US" sz="1100" dirty="0"/>
          </a:p>
        </p:txBody>
      </p:sp>
      <p:sp>
        <p:nvSpPr>
          <p:cNvPr id="181" name="Text 179"/>
          <p:cNvSpPr/>
          <p:nvPr/>
        </p:nvSpPr>
        <p:spPr>
          <a:xfrm>
            <a:off x="1792224" y="496519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-20.8%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3203013" y="4663440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3" name="Shape 181"/>
          <p:cNvSpPr/>
          <p:nvPr/>
        </p:nvSpPr>
        <p:spPr>
          <a:xfrm>
            <a:off x="3203013" y="466344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203013" y="469087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191.3%</a:t>
            </a:r>
            <a:endParaRPr lang="en-US" sz="1100" dirty="0"/>
          </a:p>
        </p:txBody>
      </p:sp>
      <p:sp>
        <p:nvSpPr>
          <p:cNvPr id="185" name="Text 183"/>
          <p:cNvSpPr/>
          <p:nvPr/>
        </p:nvSpPr>
        <p:spPr>
          <a:xfrm>
            <a:off x="3203013" y="496519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-20.1%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4613801" y="4663440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7" name="Shape 185"/>
          <p:cNvSpPr/>
          <p:nvPr/>
        </p:nvSpPr>
        <p:spPr>
          <a:xfrm>
            <a:off x="4613801" y="466344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613801" y="469087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191.9%</a:t>
            </a:r>
            <a:endParaRPr lang="en-US" sz="1100" dirty="0"/>
          </a:p>
        </p:txBody>
      </p:sp>
      <p:sp>
        <p:nvSpPr>
          <p:cNvPr id="189" name="Text 187"/>
          <p:cNvSpPr/>
          <p:nvPr/>
        </p:nvSpPr>
        <p:spPr>
          <a:xfrm>
            <a:off x="4613801" y="496519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-19.5%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6024590" y="4663440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1" name="Shape 189"/>
          <p:cNvSpPr/>
          <p:nvPr/>
        </p:nvSpPr>
        <p:spPr>
          <a:xfrm>
            <a:off x="6024590" y="466344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6024590" y="469087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193.2%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6024590" y="496519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-18.2%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7435378" y="4663440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5" name="Shape 193"/>
          <p:cNvSpPr/>
          <p:nvPr/>
        </p:nvSpPr>
        <p:spPr>
          <a:xfrm>
            <a:off x="7435378" y="466344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435378" y="469087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193.9%</a:t>
            </a:r>
            <a:endParaRPr lang="en-US" sz="1100" dirty="0"/>
          </a:p>
        </p:txBody>
      </p:sp>
      <p:sp>
        <p:nvSpPr>
          <p:cNvPr id="197" name="Text 195"/>
          <p:cNvSpPr/>
          <p:nvPr/>
        </p:nvSpPr>
        <p:spPr>
          <a:xfrm>
            <a:off x="7435378" y="496519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-17.5%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8846167" y="4663440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9" name="Shape 197"/>
          <p:cNvSpPr/>
          <p:nvPr/>
        </p:nvSpPr>
        <p:spPr>
          <a:xfrm>
            <a:off x="8846167" y="466344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8846167" y="469087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195.2%</a:t>
            </a:r>
            <a:endParaRPr lang="en-US" sz="1100" dirty="0"/>
          </a:p>
        </p:txBody>
      </p:sp>
      <p:sp>
        <p:nvSpPr>
          <p:cNvPr id="201" name="Text 199"/>
          <p:cNvSpPr/>
          <p:nvPr/>
        </p:nvSpPr>
        <p:spPr>
          <a:xfrm>
            <a:off x="8846167" y="496519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-16.2%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10256955" y="4663440"/>
            <a:ext cx="1392501" cy="5486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0256955" y="4663440"/>
            <a:ext cx="1392501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0256955" y="4690872"/>
            <a:ext cx="13925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196.5%</a:t>
            </a:r>
            <a:endParaRPr lang="en-US" sz="1100" dirty="0"/>
          </a:p>
        </p:txBody>
      </p:sp>
      <p:sp>
        <p:nvSpPr>
          <p:cNvPr id="205" name="Text 203"/>
          <p:cNvSpPr/>
          <p:nvPr/>
        </p:nvSpPr>
        <p:spPr>
          <a:xfrm>
            <a:off x="10256955" y="4965192"/>
            <a:ext cx="139250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-14.9%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512064" y="5276088"/>
            <a:ext cx="11155680" cy="548640"/>
          </a:xfrm>
          <a:prstGeom prst="rect">
            <a:avLst/>
          </a:prstGeom>
          <a:solidFill>
            <a:srgbClr val="FDEAEA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12064" y="5276088"/>
            <a:ext cx="54864" cy="54864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208" name="Text 206"/>
          <p:cNvSpPr/>
          <p:nvPr/>
        </p:nvSpPr>
        <p:spPr>
          <a:xfrm>
            <a:off x="603504" y="5276088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IMPORTANT: New TCR reduction (฿56.48M) EXCLUDES Diversification Benefit — actual CAR improvement will be LESS than shown. From 2028: OIC revaluation may change risk charge and TCR — figures for 2028+ are indicative only.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164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· Real Estate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12064" y="40233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424160" y="1645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E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6519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7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" y="1188720"/>
            <a:ext cx="5486400" cy="2331720"/>
          </a:xfrm>
          <a:prstGeom prst="rect">
            <a:avLst/>
          </a:prstGeom>
          <a:solidFill>
            <a:srgbClr val="EBF7EE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188720"/>
            <a:ext cx="347472" cy="2331720"/>
          </a:xfrm>
          <a:prstGeom prst="rect">
            <a:avLst/>
          </a:prstGeom>
          <a:solidFill>
            <a:srgbClr val="1A6B2A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188720"/>
            <a:ext cx="34747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0976" y="12984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price is ฿665M+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1645920"/>
            <a:ext cx="48463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719072"/>
            <a:ext cx="49194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scenario S1 (฿665M) generates a P&amp;L gain, improving from +฿1.8M at Q2/26 to +฿28.7M by 2031. All other price points result in a disposal loss. The earlier observations from CFO on pricing difficulty are confirmed.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3703320"/>
            <a:ext cx="5486400" cy="2331720"/>
          </a:xfrm>
          <a:prstGeom prst="rect">
            <a:avLst/>
          </a:prstGeom>
          <a:solidFill>
            <a:srgbClr val="EEF2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3703320"/>
            <a:ext cx="347472" cy="23317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3703320"/>
            <a:ext cx="34747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0976" y="38130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of waiting improves the outcome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" y="4160520"/>
            <a:ext cx="48463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233672"/>
            <a:ext cx="49194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BV declines by ฿5.29M/year while TFRS declines by ฿12.03M/year. At any fixed price, P&amp;L improves by ~฿5.3M per year and CAR improves by ~1.3% per year. Holding 2–3 more years meaningfully reduces the loss.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5486400" cy="2331720"/>
          </a:xfrm>
          <a:prstGeom prst="rect">
            <a:avLst/>
          </a:prstGeom>
          <a:solidFill>
            <a:srgbClr val="FFF8E1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188720"/>
            <a:ext cx="347472" cy="2331720"/>
          </a:xfrm>
          <a:prstGeom prst="rect">
            <a:avLst/>
          </a:prstGeom>
          <a:solidFill>
            <a:srgbClr val="7A5200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188720"/>
            <a:ext cx="34747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48272" y="12984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improves under most scenarios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48272" y="1645920"/>
            <a:ext cx="48463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1719072"/>
            <a:ext cx="49194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Disposing at ฿450M or above improves CAR across all periods. Selling below ฿400M may result in a significant decline in CAR ratio. Note: figures exclude Diversification Benefit — actual impact may differ. Confirm with Actuarial.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703320"/>
            <a:ext cx="5486400" cy="2331720"/>
          </a:xfrm>
          <a:prstGeom prst="rect">
            <a:avLst/>
          </a:prstGeom>
          <a:solidFill>
            <a:srgbClr val="FDEAEA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703320"/>
            <a:ext cx="347472" cy="2331720"/>
          </a:xfrm>
          <a:prstGeom prst="rect">
            <a:avLst/>
          </a:prstGeom>
          <a:solidFill>
            <a:srgbClr val="A52A2A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703320"/>
            <a:ext cx="34747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48272" y="38130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 scenario excluded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48272" y="4160520"/>
            <a:ext cx="48463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4233672"/>
            <a:ext cx="49194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Revenue Code limits property donation deduction to 2% of net profit (not 2× BV as initially assumed). At ฿1,000M profit, only ฿20M is deductible — remaining ฿580M is added back to taxable income, resulting in extra tax cost vs not donating.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2026-04-02T02:59:24Z</dcterms:created>
  <dcterms:modified xsi:type="dcterms:W3CDTF">2026-04-02T02:59:24Z</dcterms:modified>
</cp:coreProperties>
</file>